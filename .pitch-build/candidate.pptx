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006dee00b84aa9" /><Relationship Type="http://schemas.openxmlformats.org/officeDocument/2006/relationships/extended-properties" Target="/docProps/app.xml" Id="R6f9dbff66a134cb0" /><Relationship Type="http://schemas.openxmlformats.org/officeDocument/2006/relationships/officeDocument" Target="/ppt/presentation.xml" Id="R21f0dd72645446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78b08491c4fc4"/>
  </p:sldMasterIdLst>
  <p:notesMasterIdLst>
    <p:notesMasterId xmlns:r="http://schemas.openxmlformats.org/officeDocument/2006/relationships" r:id="Rd0b6c0cf86144135"/>
  </p:notesMasterIdLst>
  <p:sldIdLst>
    <p:sldId xmlns:r="http://schemas.openxmlformats.org/officeDocument/2006/relationships" id="256" r:id="R2ce33a17ab684732"/>
    <p:sldId xmlns:r="http://schemas.openxmlformats.org/officeDocument/2006/relationships" id="257" r:id="Rfa6233e0441845d0"/>
    <p:sldId xmlns:r="http://schemas.openxmlformats.org/officeDocument/2006/relationships" id="258" r:id="Rf6e413e426e847ff"/>
    <p:sldId xmlns:r="http://schemas.openxmlformats.org/officeDocument/2006/relationships" id="259" r:id="R18860f00887042ce"/>
    <p:sldId xmlns:r="http://schemas.openxmlformats.org/officeDocument/2006/relationships" id="260" r:id="R244abbf0b3574a29"/>
    <p:sldId xmlns:r="http://schemas.openxmlformats.org/officeDocument/2006/relationships" id="261" r:id="R879e753883624a3c"/>
    <p:sldId xmlns:r="http://schemas.openxmlformats.org/officeDocument/2006/relationships" id="262" r:id="R586360f843334bbf"/>
    <p:sldId xmlns:r="http://schemas.openxmlformats.org/officeDocument/2006/relationships" id="263" r:id="Rf9bed04e61984f41"/>
    <p:sldId xmlns:r="http://schemas.openxmlformats.org/officeDocument/2006/relationships" id="264" r:id="R04e93e980b1f44be"/>
    <p:sldId xmlns:r="http://schemas.openxmlformats.org/officeDocument/2006/relationships" id="265" r:id="R7474e3f0118d4a64"/>
    <p:sldId xmlns:r="http://schemas.openxmlformats.org/officeDocument/2006/relationships" id="266" r:id="R7b5df5565bc149ef"/>
    <p:sldId xmlns:r="http://schemas.openxmlformats.org/officeDocument/2006/relationships" id="267" r:id="R63d4e8dd20094604"/>
    <p:sldId xmlns:r="http://schemas.openxmlformats.org/officeDocument/2006/relationships" id="268" r:id="R2847a770a1e7492a"/>
    <p:sldId xmlns:r="http://schemas.openxmlformats.org/officeDocument/2006/relationships" id="269" r:id="Rcd0c2b3de7604e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61c5026f5a448c" /><Relationship Type="http://schemas.openxmlformats.org/officeDocument/2006/relationships/slideMaster" Target="/ppt/slideMasters/slideMaster1.xml" Id="R08078b08491c4fc4" /><Relationship Type="http://schemas.openxmlformats.org/officeDocument/2006/relationships/notesMaster" Target="/ppt/notesMasters/notesMaster1.xml" Id="Rd0b6c0cf86144135" /><Relationship Type="http://schemas.openxmlformats.org/officeDocument/2006/relationships/presProps" Target="/ppt/presProps.xml" Id="R0a1b1e9104f647b4" /><Relationship Type="http://schemas.openxmlformats.org/officeDocument/2006/relationships/tableStyles" Target="/ppt/tableStyles.xml" Id="R499c283fa14a44bd" /><Relationship Type="http://schemas.openxmlformats.org/officeDocument/2006/relationships/slide" Target="/ppt/slides/slide1.xml" Id="R2ce33a17ab684732" /><Relationship Type="http://schemas.openxmlformats.org/officeDocument/2006/relationships/slide" Target="/ppt/slides/slide2.xml" Id="Rfa6233e0441845d0" /><Relationship Type="http://schemas.openxmlformats.org/officeDocument/2006/relationships/slide" Target="/ppt/slides/slide3.xml" Id="Rf6e413e426e847ff" /><Relationship Type="http://schemas.openxmlformats.org/officeDocument/2006/relationships/slide" Target="/ppt/slides/slide4.xml" Id="R18860f00887042ce" /><Relationship Type="http://schemas.openxmlformats.org/officeDocument/2006/relationships/slide" Target="/ppt/slides/slide5.xml" Id="R244abbf0b3574a29" /><Relationship Type="http://schemas.openxmlformats.org/officeDocument/2006/relationships/slide" Target="/ppt/slides/slide6.xml" Id="R879e753883624a3c" /><Relationship Type="http://schemas.openxmlformats.org/officeDocument/2006/relationships/slide" Target="/ppt/slides/slide7.xml" Id="R586360f843334bbf" /><Relationship Type="http://schemas.openxmlformats.org/officeDocument/2006/relationships/slide" Target="/ppt/slides/slide8.xml" Id="Rf9bed04e61984f41" /><Relationship Type="http://schemas.openxmlformats.org/officeDocument/2006/relationships/slide" Target="/ppt/slides/slide9.xml" Id="R04e93e980b1f44be" /><Relationship Type="http://schemas.openxmlformats.org/officeDocument/2006/relationships/slide" Target="/ppt/slides/slide10.xml" Id="R7474e3f0118d4a64" /><Relationship Type="http://schemas.openxmlformats.org/officeDocument/2006/relationships/slide" Target="/ppt/slides/slide11.xml" Id="R7b5df5565bc149ef" /><Relationship Type="http://schemas.openxmlformats.org/officeDocument/2006/relationships/slide" Target="/ppt/slides/slide12.xml" Id="R63d4e8dd20094604" /><Relationship Type="http://schemas.openxmlformats.org/officeDocument/2006/relationships/slide" Target="/ppt/slides/slide13.xml" Id="R2847a770a1e7492a" /><Relationship Type="http://schemas.openxmlformats.org/officeDocument/2006/relationships/slide" Target="/ppt/slides/slide14.xml" Id="Rcd0c2b3de760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d167a89e324f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6230d1376480e" /><Relationship Type="http://schemas.openxmlformats.org/officeDocument/2006/relationships/notesMaster" Target="/ppt/notesMasters/notesMaster1.xml" Id="R37ed9bba65b2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8aa05dc234c6d" /><Relationship Type="http://schemas.openxmlformats.org/officeDocument/2006/relationships/notesMaster" Target="/ppt/notesMasters/notesMaster1.xml" Id="Rb5b4ca084d4347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c874059e694c15" /><Relationship Type="http://schemas.openxmlformats.org/officeDocument/2006/relationships/notesMaster" Target="/ppt/notesMasters/notesMaster1.xml" Id="R60d753e031824a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e213fb56745d7" /><Relationship Type="http://schemas.openxmlformats.org/officeDocument/2006/relationships/notesMaster" Target="/ppt/notesMasters/notesMaster1.xml" Id="R7bf30f95aa5d46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a14eb352f8404d" /><Relationship Type="http://schemas.openxmlformats.org/officeDocument/2006/relationships/notesMaster" Target="/ppt/notesMasters/notesMaster1.xml" Id="Rb0c6a488fa6540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b711d73e394ec9" /><Relationship Type="http://schemas.openxmlformats.org/officeDocument/2006/relationships/notesMaster" Target="/ppt/notesMasters/notesMaster1.xml" Id="R5aa433f612f044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7d5f16ba044699" /><Relationship Type="http://schemas.openxmlformats.org/officeDocument/2006/relationships/notesMaster" Target="/ppt/notesMasters/notesMaster1.xml" Id="Rdc18588f2014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9ede9a4a5849d4" /><Relationship Type="http://schemas.openxmlformats.org/officeDocument/2006/relationships/notesMaster" Target="/ppt/notesMasters/notesMaster1.xml" Id="R5be326d2d04e4b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a1945a1bf84c02" /><Relationship Type="http://schemas.openxmlformats.org/officeDocument/2006/relationships/notesMaster" Target="/ppt/notesMasters/notesMaster1.xml" Id="R87c2191d2f5546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20b2ff760f4bb9" /><Relationship Type="http://schemas.openxmlformats.org/officeDocument/2006/relationships/notesMaster" Target="/ppt/notesMasters/notesMaster1.xml" Id="R5562766defbf49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d794030750465a" /><Relationship Type="http://schemas.openxmlformats.org/officeDocument/2006/relationships/notesMaster" Target="/ppt/notesMasters/notesMaster1.xml" Id="R691b3033129c4d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1f17bd4625498e" /><Relationship Type="http://schemas.openxmlformats.org/officeDocument/2006/relationships/notesMaster" Target="/ppt/notesMasters/notesMaster1.xml" Id="R31cc9d2f611246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1eb16e89a14c17" /><Relationship Type="http://schemas.openxmlformats.org/officeDocument/2006/relationships/notesMaster" Target="/ppt/notesMasters/notesMaster1.xml" Id="R04e4c7ab5e0544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59332b7e2b4a26" /><Relationship Type="http://schemas.openxmlformats.org/officeDocument/2006/relationships/notesMaster" Target="/ppt/notesMasters/notesMaster1.xml" Id="R596f6f548cd14c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officielles consultées le 11 octobre 2026 : https://www.keejob.com/recruiter/ ; https://www.tanitjobs.com/ ; https://business.linkedin.com/content/dam/me/business/en-us/talent-solutions-lodestone/body/pdf/RecruiterDataSheet-LI.pdf . Description générale, sans comparaison exhaustive des fonctionnalités. Le positionnement EasyJob est une intention stratégique.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02fff65eb46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7260c79604c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47f78fde842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baad6895b40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c346286b743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e8848ec324a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EC193D-DBAD-413C-B57D-26CF6AADF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91AFAE-662A-4D94-A3B5-5D2D1DC54F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5C2455-56BD-4024-8516-614A7CD87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2BC187-073F-4685-9F75-F83EFE539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20110C-6939-4119-A912-53257B0D1E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626B4D-0640-4636-A464-2682B5401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233B83-0AC7-4F88-8230-1931A9F8D9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2B2DFE-08D5-4873-A22D-B69099029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53128B-729E-460C-9E02-ED75EE56E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A1188A-7BCC-422B-9B4B-D23F423F08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8f78af19e42d8" /><Relationship Type="http://schemas.openxmlformats.org/officeDocument/2006/relationships/slideLayout" Target="/ppt/slideLayouts/slideLayout1.xml" Id="Rdfa84a45d5804737" /><Relationship Type="http://schemas.openxmlformats.org/officeDocument/2006/relationships/slideLayout" Target="/ppt/slideLayouts/slideLayout2.xml" Id="R7adf023cdba84012" /><Relationship Type="http://schemas.openxmlformats.org/officeDocument/2006/relationships/slideLayout" Target="/ppt/slideLayouts/slideLayout3.xml" Id="Rc133c29e5d5148cd" /><Relationship Type="http://schemas.openxmlformats.org/officeDocument/2006/relationships/slideLayout" Target="/ppt/slideLayouts/slideLayout4.xml" Id="Rbc5a8de2e6264a45" /><Relationship Type="http://schemas.openxmlformats.org/officeDocument/2006/relationships/slideLayout" Target="/ppt/slideLayouts/slideLayout5.xml" Id="R704c840d7b384903" /><Relationship Type="http://schemas.openxmlformats.org/officeDocument/2006/relationships/slideLayout" Target="/ppt/slideLayouts/slideLayout6.xml" Id="R8f8dfd9772c544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84a45d5804737"/>
    <p:sldLayoutId xmlns:r="http://schemas.openxmlformats.org/officeDocument/2006/relationships" id="2147483650" r:id="R7adf023cdba84012"/>
    <p:sldLayoutId xmlns:r="http://schemas.openxmlformats.org/officeDocument/2006/relationships" id="2147483651" r:id="Rc133c29e5d5148cd"/>
    <p:sldLayoutId xmlns:r="http://schemas.openxmlformats.org/officeDocument/2006/relationships" id="2147483652" r:id="Rbc5a8de2e6264a45"/>
    <p:sldLayoutId xmlns:r="http://schemas.openxmlformats.org/officeDocument/2006/relationships" id="2147483653" r:id="R704c840d7b384903"/>
    <p:sldLayoutId xmlns:r="http://schemas.openxmlformats.org/officeDocument/2006/relationships" id="2147483654" r:id="R8f8dfd9772c544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06e59276f4594" /><Relationship Type="http://schemas.openxmlformats.org/officeDocument/2006/relationships/image" Target="/ppt/media/image.png" Id="Rad24385d241c43b3" /><Relationship Type="http://schemas.openxmlformats.org/officeDocument/2006/relationships/notesSlide" Target="/ppt/notesSlides/notesSlide1.xml" Id="R685c2edb23c24a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ca191df824913" /><Relationship Type="http://schemas.openxmlformats.org/officeDocument/2006/relationships/notesSlide" Target="/ppt/notesSlides/notesSlide2.xml" Id="Re7181b346b9446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c0edb61c548cb" /><Relationship Type="http://schemas.openxmlformats.org/officeDocument/2006/relationships/notesSlide" Target="/ppt/notesSlides/notesSlide3.xml" Id="R89efde05822344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8c2cef4d44bef" /><Relationship Type="http://schemas.openxmlformats.org/officeDocument/2006/relationships/image" Target="/ppt/media/image2.png" Id="Rbf781ceab616498e" /><Relationship Type="http://schemas.openxmlformats.org/officeDocument/2006/relationships/notesSlide" Target="/ppt/notesSlides/notesSlide4.xml" Id="R35bfee6e89a54f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f667089aa4512" /><Relationship Type="http://schemas.openxmlformats.org/officeDocument/2006/relationships/image" Target="/ppt/media/image3.png" Id="R85b589c983294b4c" /><Relationship Type="http://schemas.openxmlformats.org/officeDocument/2006/relationships/notesSlide" Target="/ppt/notesSlides/notesSlide5.xml" Id="R37fa59c50a7044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34e1e53a842e3" /><Relationship Type="http://schemas.openxmlformats.org/officeDocument/2006/relationships/image" Target="/ppt/media/image4.png" Id="R613feef1c62a4418" /><Relationship Type="http://schemas.openxmlformats.org/officeDocument/2006/relationships/notesSlide" Target="/ppt/notesSlides/notesSlide6.xml" Id="Rce69455c9bd745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5f78a0a6c64107" /><Relationship Type="http://schemas.openxmlformats.org/officeDocument/2006/relationships/notesSlide" Target="/ppt/notesSlides/notesSlide7.xml" Id="R0ed367fbd1594a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4503f01f14c74" /><Relationship Type="http://schemas.openxmlformats.org/officeDocument/2006/relationships/notesSlide" Target="/ppt/notesSlides/notesSlide8.xml" Id="R177924218fb742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98870b4a24325" /><Relationship Type="http://schemas.openxmlformats.org/officeDocument/2006/relationships/notesSlide" Target="/ppt/notesSlides/notesSlide9.xml" Id="R566a1e46944f42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79fdee72e4292" /><Relationship Type="http://schemas.openxmlformats.org/officeDocument/2006/relationships/notesSlide" Target="/ppt/notesSlides/notesSlide10.xml" Id="Rb48687e95e7043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1c67540fe432f" /><Relationship Type="http://schemas.openxmlformats.org/officeDocument/2006/relationships/image" Target="/ppt/media/image5.png" Id="Rdebeb43fe6584536" /><Relationship Type="http://schemas.openxmlformats.org/officeDocument/2006/relationships/notesSlide" Target="/ppt/notesSlides/notesSlide11.xml" Id="Rb5fe78597bac4b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99f870bbb465d" /><Relationship Type="http://schemas.openxmlformats.org/officeDocument/2006/relationships/notesSlide" Target="/ppt/notesSlides/notesSlide12.xml" Id="R959fede2ea2448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9310a4d4b4848" /><Relationship Type="http://schemas.openxmlformats.org/officeDocument/2006/relationships/image" Target="/ppt/media/image.jpeg" Id="R9bb7ef6c9069401c" /><Relationship Type="http://schemas.openxmlformats.org/officeDocument/2006/relationships/notesSlide" Target="/ppt/notesSlides/notesSlide13.xml" Id="R31cba4a1811940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3ed46c9ce4290" /><Relationship Type="http://schemas.openxmlformats.org/officeDocument/2006/relationships/notesSlide" Target="/ppt/notesSlides/notesSlide14.xml" Id="Re5ef1440efab43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D3379BEF-524C-43A6-8257-97A1EBA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01">
            <a:extLst xmlns:a="http://schemas.openxmlformats.org/drawingml/2006/main">
              <a:ext uri="{FF2B5EF4-FFF2-40B4-BE49-F238E27FC236}">
                <a16:creationId xmlns:a16="http://schemas.microsoft.com/office/drawing/2014/main" id="{48775EDA-E4AD-4A29-998B-E2F0BA64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95ADA81F-70C5-41E9-8BB1-2EBE663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4" name="Text Le recrutement assisté&#10;par l’intelligence art">
            <a:extLst xmlns:a="http://schemas.openxmlformats.org/drawingml/2006/main">
              <a:ext uri="{FF2B5EF4-FFF2-40B4-BE49-F238E27FC236}">
                <a16:creationId xmlns:a16="http://schemas.microsoft.com/office/drawing/2014/main" id="{4BBC386E-5A8A-4AC6-A51E-FD0F5E00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Le recrutement assisté</a:t>
            </a:r>
          </a:p>
          <a:p xmlns:a="http://schemas.openxmlformats.org/drawingml/2006/main">
            <a: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par l’intelligence artificielle</a:t>
            </a:r>
          </a:p>
        </p:txBody>
      </p:sp>
      <p:sp>
        <p:nvSpPr>
          <p:cNvPr id="5" name="Text Candidats et recruteurs&#10;dans une même platefo">
            <a:extLst xmlns:a="http://schemas.openxmlformats.org/drawingml/2006/main">
              <a:ext uri="{FF2B5EF4-FFF2-40B4-BE49-F238E27FC236}">
                <a16:creationId xmlns:a16="http://schemas.microsoft.com/office/drawing/2014/main" id="{86426A3C-20EE-47CF-B23C-28569DA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Candidats et recruteurs</a:t>
            </a:r>
          </a:p>
          <a:p xmlns:a="http://schemas.openxmlformats.org/drawingml/2006/main">
            <a:pPr>
              <a:defRPr sz="21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dans une même plateforme</a:t>
            </a:r>
          </a:p>
        </p:txBody>
      </p:sp>
      <p:sp>
        <p:nvSpPr>
          <p:cNvPr id="6" name="Text Candidature au Label Startup&#10;Tunisie, octobre">
            <a:extLst xmlns:a="http://schemas.openxmlformats.org/drawingml/2006/main">
              <a:ext uri="{FF2B5EF4-FFF2-40B4-BE49-F238E27FC236}">
                <a16:creationId xmlns:a16="http://schemas.microsoft.com/office/drawing/2014/main" id="{C8E9708C-BDB6-4C66-9844-EE2085F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5334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Candidature au Label Startup</a:t>
            </a:r>
          </a:p>
          <a:p xmlns:a="http://schemas.openxmlformats.org/drawingml/2006/main">
            <a:pPr>
              <a:defRPr sz="16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Tunisie, octobre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C0018-387B-4466-BDFF-DD00CB5CB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4385d241c43b3"/>
          <a:stretch xmlns:a="http://schemas.openxmlformats.org/drawingml/2006/main"/>
        </p:blipFill>
        <p:spPr>
          <a:xfrm xmlns:a="http://schemas.openxmlformats.org/drawingml/2006/main">
            <a:off x="6229350" y="2280047"/>
            <a:ext cx="5372100" cy="3021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33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81046CA6-8B4B-49EB-A628-53EE3BC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roblème">
            <a:extLst xmlns:a="http://schemas.openxmlformats.org/drawingml/2006/main">
              <a:ext uri="{FF2B5EF4-FFF2-40B4-BE49-F238E27FC236}">
                <a16:creationId xmlns:a16="http://schemas.microsoft.com/office/drawing/2014/main" id="{BB084A62-749E-4FDE-9C2A-3508B9DE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problème</a:t>
            </a:r>
          </a:p>
        </p:txBody>
      </p:sp>
      <p:sp>
        <p:nvSpPr>
          <p:cNvPr id="3" name="Text Un parcours encore dispersé entre plusieurs o">
            <a:extLst xmlns:a="http://schemas.openxmlformats.org/drawingml/2006/main">
              <a:ext uri="{FF2B5EF4-FFF2-40B4-BE49-F238E27FC236}">
                <a16:creationId xmlns:a16="http://schemas.microsoft.com/office/drawing/2014/main" id="{29FF8D12-0E03-4195-B0D9-3A2E914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parcours encore dispersé entre plusieurs outils.</a:t>
            </a:r>
          </a:p>
        </p:txBody>
      </p:sp>
      <p:sp>
        <p:nvSpPr>
          <p:cNvPr id="4" name="Text 02">
            <a:extLst xmlns:a="http://schemas.openxmlformats.org/drawingml/2006/main">
              <a:ext uri="{FF2B5EF4-FFF2-40B4-BE49-F238E27FC236}">
                <a16:creationId xmlns:a16="http://schemas.microsoft.com/office/drawing/2014/main" id="{2D3A4ABB-6708-487A-8F8C-873ADAA5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 Pour les candidats">
            <a:extLst xmlns:a="http://schemas.openxmlformats.org/drawingml/2006/main">
              <a:ext uri="{FF2B5EF4-FFF2-40B4-BE49-F238E27FC236}">
                <a16:creationId xmlns:a16="http://schemas.microsoft.com/office/drawing/2014/main" id="{813FC2BE-E357-465E-A4A0-489E78A0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Pour les candidats</a:t>
            </a:r>
          </a:p>
        </p:txBody>
      </p:sp>
      <p:sp>
        <p:nvSpPr>
          <p:cNvPr id="6" name="Text Préparer le CV, consulter les offres et suivr">
            <a:extLst xmlns:a="http://schemas.openxmlformats.org/drawingml/2006/main">
              <a:ext uri="{FF2B5EF4-FFF2-40B4-BE49-F238E27FC236}">
                <a16:creationId xmlns:a16="http://schemas.microsoft.com/office/drawing/2014/main" id="{266CEEF5-A1C7-4102-B0B2-269A373E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Préparer le CV, consulter les offres et suivre les réponses demandent des démarches séparées.</a:t>
            </a:r>
          </a:p>
        </p:txBody>
      </p:sp>
      <p:sp>
        <p:nvSpPr>
          <p:cNvPr id="7" name="Text Pour les entreprises">
            <a:extLst xmlns:a="http://schemas.openxmlformats.org/drawingml/2006/main">
              <a:ext uri="{FF2B5EF4-FFF2-40B4-BE49-F238E27FC236}">
                <a16:creationId xmlns:a16="http://schemas.microsoft.com/office/drawing/2014/main" id="{D616AB11-8B29-441A-BA65-391BA6B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765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Pour les entreprises</a:t>
            </a:r>
          </a:p>
        </p:txBody>
      </p:sp>
      <p:sp>
        <p:nvSpPr>
          <p:cNvPr id="8" name="Text Les dossiers, les échanges et les entretiens ">
            <a:extLst xmlns:a="http://schemas.openxmlformats.org/drawingml/2006/main">
              <a:ext uri="{FF2B5EF4-FFF2-40B4-BE49-F238E27FC236}">
                <a16:creationId xmlns:a16="http://schemas.microsoft.com/office/drawing/2014/main" id="{63294D01-C040-40C8-871C-710B1A7E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Les dossiers, les échanges et les entretiens se répartissent entre plusieurs supports.</a:t>
            </a:r>
          </a:p>
        </p:txBody>
      </p:sp>
      <p:sp>
        <p:nvSpPr>
          <p:cNvPr id="9" name="Text Besoin commun : retrouver le contexte et la p">
            <a:extLst xmlns:a="http://schemas.openxmlformats.org/drawingml/2006/main">
              <a:ext uri="{FF2B5EF4-FFF2-40B4-BE49-F238E27FC236}">
                <a16:creationId xmlns:a16="http://schemas.microsoft.com/office/drawing/2014/main" id="{E61B6D49-BA90-4403-B3DB-4E3A2623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Besoin commun : retrouver le contexte et la prochaine action au même endroit.</a:t>
            </a:r>
          </a:p>
        </p:txBody>
      </p:sp>
    </p:spTree>
    <p:extLst>
      <p:ext uri="{BB962C8B-B14F-4D97-AF65-F5344CB8AC3E}">
        <p14:creationId xmlns:p14="http://schemas.microsoft.com/office/powerpoint/2010/main" val="1401689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3DA0E5DB-2191-46A3-9778-3C77974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Une plateforme, deux parcours">
            <a:extLst xmlns:a="http://schemas.openxmlformats.org/drawingml/2006/main">
              <a:ext uri="{FF2B5EF4-FFF2-40B4-BE49-F238E27FC236}">
                <a16:creationId xmlns:a16="http://schemas.microsoft.com/office/drawing/2014/main" id="{E559CB72-1EB2-44E4-998D-DD201DA0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Une plateforme, deux parcours</a:t>
            </a:r>
          </a:p>
        </p:txBody>
      </p:sp>
      <p:sp>
        <p:nvSpPr>
          <p:cNvPr id="3" name="Text EasyJob relie la préparation du candidat au s">
            <a:extLst xmlns:a="http://schemas.openxmlformats.org/drawingml/2006/main">
              <a:ext uri="{FF2B5EF4-FFF2-40B4-BE49-F238E27FC236}">
                <a16:creationId xmlns:a16="http://schemas.microsoft.com/office/drawing/2014/main" id="{73A770FB-FD4C-4AE9-B730-98174B5A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EasyJob relie la préparation du candidat au suivi du recrutement.</a:t>
            </a:r>
          </a:p>
        </p:txBody>
      </p:sp>
      <p:sp>
        <p:nvSpPr>
          <p:cNvPr id="4" name="Text 03">
            <a:extLst xmlns:a="http://schemas.openxmlformats.org/drawingml/2006/main">
              <a:ext uri="{FF2B5EF4-FFF2-40B4-BE49-F238E27FC236}">
                <a16:creationId xmlns:a16="http://schemas.microsoft.com/office/drawing/2014/main" id="{8544A6AD-6B33-4FCB-90A6-7E68D81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 CANDIDAT">
            <a:extLst xmlns:a="http://schemas.openxmlformats.org/drawingml/2006/main">
              <a:ext uri="{FF2B5EF4-FFF2-40B4-BE49-F238E27FC236}">
                <a16:creationId xmlns:a16="http://schemas.microsoft.com/office/drawing/2014/main" id="{2234B546-101C-4712-BFED-7B234F1C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CANDIDAT</a:t>
            </a:r>
          </a:p>
        </p:txBody>
      </p:sp>
      <p:sp>
        <p:nvSpPr>
          <p:cNvPr id="6" name="Text CV et profil&#10;Recherche d’offres&#10;Candidatures ">
            <a:extLst xmlns:a="http://schemas.openxmlformats.org/drawingml/2006/main">
              <a:ext uri="{FF2B5EF4-FFF2-40B4-BE49-F238E27FC236}">
                <a16:creationId xmlns:a16="http://schemas.microsoft.com/office/drawing/2014/main" id="{51943004-5A23-4FCB-A11E-E582C332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9053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CV et profil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Recherche d’offres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Candidatures et préparation</a:t>
            </a:r>
          </a:p>
        </p:txBody>
      </p:sp>
      <p:sp>
        <p:nvSpPr>
          <p:cNvPr id="7" name="Text RECRUTEUR">
            <a:extLst xmlns:a="http://schemas.openxmlformats.org/drawingml/2006/main">
              <a:ext uri="{FF2B5EF4-FFF2-40B4-BE49-F238E27FC236}">
                <a16:creationId xmlns:a16="http://schemas.microsoft.com/office/drawing/2014/main" id="{70B6C645-5772-4617-B7E6-7ECAE9C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0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CE2CE"/>
                </a:solidFill>
                <a:latin typeface="Arial"/>
                <a:ea typeface="Arial"/>
                <a:cs typeface="Arial"/>
              </a:rPr>
              <a:t>RECRUTEUR</a:t>
            </a:r>
          </a:p>
        </p:txBody>
      </p:sp>
      <p:sp>
        <p:nvSpPr>
          <p:cNvPr id="8" name="Text Publication des offres&#10;Analyse des dossiers&#10;S">
            <a:extLst xmlns:a="http://schemas.openxmlformats.org/drawingml/2006/main">
              <a:ext uri="{FF2B5EF4-FFF2-40B4-BE49-F238E27FC236}">
                <a16:creationId xmlns:a16="http://schemas.microsoft.com/office/drawing/2014/main" id="{A71458FC-4D32-4170-85C9-1D273B03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857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Publication des offres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Analyse des dossiers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Suivi et entretiens</a:t>
            </a:r>
          </a:p>
        </p:txBody>
      </p:sp>
      <p:sp>
        <p:nvSpPr>
          <p:cNvPr id="9" name="Text Interface disponible en français, anglais et ">
            <a:extLst xmlns:a="http://schemas.openxmlformats.org/drawingml/2006/main">
              <a:ext uri="{FF2B5EF4-FFF2-40B4-BE49-F238E27FC236}">
                <a16:creationId xmlns:a16="http://schemas.microsoft.com/office/drawing/2014/main" id="{F4FFE25A-2106-426E-AF93-46988FF9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Interface disponible en français, anglais et arabe.</a:t>
            </a:r>
          </a:p>
        </p:txBody>
      </p:sp>
    </p:spTree>
    <p:extLst>
      <p:ext uri="{BB962C8B-B14F-4D97-AF65-F5344CB8AC3E}">
        <p14:creationId xmlns:p14="http://schemas.microsoft.com/office/powerpoint/2010/main" val="1956113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19F9EE9C-3DA3-40A1-BE69-8190C66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arcours candidat">
            <a:extLst xmlns:a="http://schemas.openxmlformats.org/drawingml/2006/main">
              <a:ext uri="{FF2B5EF4-FFF2-40B4-BE49-F238E27FC236}">
                <a16:creationId xmlns:a16="http://schemas.microsoft.com/office/drawing/2014/main" id="{C2105CC5-74EC-461B-BFF9-1C4A98B4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parcours candidat</a:t>
            </a:r>
          </a:p>
        </p:txBody>
      </p:sp>
      <p:sp>
        <p:nvSpPr>
          <p:cNvPr id="3" name="Text 04">
            <a:extLst xmlns:a="http://schemas.openxmlformats.org/drawingml/2006/main">
              <a:ext uri="{FF2B5EF4-FFF2-40B4-BE49-F238E27FC236}">
                <a16:creationId xmlns:a16="http://schemas.microsoft.com/office/drawing/2014/main" id="{F9491EE4-AE1E-4CBA-AD02-1D7168D0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 Trouver une offre">
            <a:extLst xmlns:a="http://schemas.openxmlformats.org/drawingml/2006/main">
              <a:ext uri="{FF2B5EF4-FFF2-40B4-BE49-F238E27FC236}">
                <a16:creationId xmlns:a16="http://schemas.microsoft.com/office/drawing/2014/main" id="{C7B92761-AE10-4E42-9509-E6A34C5E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Trouver une offre</a:t>
            </a:r>
          </a:p>
        </p:txBody>
      </p:sp>
      <p:sp>
        <p:nvSpPr>
          <p:cNvPr id="5" name="Text Rechercher un poste et voir les correspondanc">
            <a:extLst xmlns:a="http://schemas.openxmlformats.org/drawingml/2006/main">
              <a:ext uri="{FF2B5EF4-FFF2-40B4-BE49-F238E27FC236}">
                <a16:creationId xmlns:a16="http://schemas.microsoft.com/office/drawing/2014/main" id="{35DADB63-65F8-4B3C-8785-140D4352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Rechercher un poste et voir les correspondances avec le profil.</a:t>
            </a:r>
          </a:p>
        </p:txBody>
      </p:sp>
      <p:sp>
        <p:nvSpPr>
          <p:cNvPr id="6" name="Text Garder le suivi">
            <a:extLst xmlns:a="http://schemas.openxmlformats.org/drawingml/2006/main">
              <a:ext uri="{FF2B5EF4-FFF2-40B4-BE49-F238E27FC236}">
                <a16:creationId xmlns:a16="http://schemas.microsoft.com/office/drawing/2014/main" id="{102F2082-8695-42C5-A0A6-E4468EBC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Garder le suivi</a:t>
            </a:r>
          </a:p>
        </p:txBody>
      </p:sp>
      <p:sp>
        <p:nvSpPr>
          <p:cNvPr id="7" name="Text Retrouver les candidatures et préparer les en">
            <a:extLst xmlns:a="http://schemas.openxmlformats.org/drawingml/2006/main">
              <a:ext uri="{FF2B5EF4-FFF2-40B4-BE49-F238E27FC236}">
                <a16:creationId xmlns:a16="http://schemas.microsoft.com/office/drawing/2014/main" id="{84C83C47-6EFB-4703-BC9E-CF97558A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Retrouver les candidatures et préparer les entretiens.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E3540-7399-4096-9696-002D48845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81ceab616498e"/>
          <a:stretch xmlns:a="http://schemas.openxmlformats.org/drawingml/2006/main"/>
        </p:blipFill>
        <p:spPr>
          <a:xfrm xmlns:a="http://schemas.openxmlformats.org/drawingml/2006/main">
            <a:off x="4483100" y="1990725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9" name="Text Capture du produit. Les comptes et les offres">
            <a:extLst xmlns:a="http://schemas.openxmlformats.org/drawingml/2006/main">
              <a:ext uri="{FF2B5EF4-FFF2-40B4-BE49-F238E27FC236}">
                <a16:creationId xmlns:a16="http://schemas.microsoft.com/office/drawing/2014/main" id="{BDD45D9F-1CD6-42F0-BC1E-91C314BD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Capture du produit. Les comptes et les offres affichés servent à la démonstration.</a:t>
            </a:r>
          </a:p>
        </p:txBody>
      </p:sp>
    </p:spTree>
    <p:extLst>
      <p:ext uri="{BB962C8B-B14F-4D97-AF65-F5344CB8AC3E}">
        <p14:creationId xmlns:p14="http://schemas.microsoft.com/office/powerpoint/2010/main" val="1185781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0EE20CF3-EC2E-4864-A054-090CC8F4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’espace recruteur">
            <a:extLst xmlns:a="http://schemas.openxmlformats.org/drawingml/2006/main">
              <a:ext uri="{FF2B5EF4-FFF2-40B4-BE49-F238E27FC236}">
                <a16:creationId xmlns:a16="http://schemas.microsoft.com/office/drawing/2014/main" id="{37A27BB0-B74C-4A19-AB2F-731D96F2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L’espace recruteur</a:t>
            </a:r>
          </a:p>
        </p:txBody>
      </p:sp>
      <p:sp>
        <p:nvSpPr>
          <p:cNvPr id="3" name="Text 05">
            <a:extLst xmlns:a="http://schemas.openxmlformats.org/drawingml/2006/main">
              <a:ext uri="{FF2B5EF4-FFF2-40B4-BE49-F238E27FC236}">
                <a16:creationId xmlns:a16="http://schemas.microsoft.com/office/drawing/2014/main" id="{75B08663-F3D9-4199-933B-F8B94C1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 Organiser le travail">
            <a:extLst xmlns:a="http://schemas.openxmlformats.org/drawingml/2006/main">
              <a:ext uri="{FF2B5EF4-FFF2-40B4-BE49-F238E27FC236}">
                <a16:creationId xmlns:a16="http://schemas.microsoft.com/office/drawing/2014/main" id="{580832F0-EEE4-47E4-967A-5306D7B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Organiser le travail</a:t>
            </a:r>
          </a:p>
        </p:txBody>
      </p:sp>
      <p:sp>
        <p:nvSpPr>
          <p:cNvPr id="5" name="Text Publier des offres et retrouver les candidatu">
            <a:extLst xmlns:a="http://schemas.openxmlformats.org/drawingml/2006/main">
              <a:ext uri="{FF2B5EF4-FFF2-40B4-BE49-F238E27FC236}">
                <a16:creationId xmlns:a16="http://schemas.microsoft.com/office/drawing/2014/main" id="{8B04ADD9-BDB4-4539-B9A9-A0506B3F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Publier des offres et retrouver les candidatures dans un espace dédié.</a:t>
            </a:r>
          </a:p>
        </p:txBody>
      </p:sp>
      <p:sp>
        <p:nvSpPr>
          <p:cNvPr id="6" name="Text Suivre les dossiers">
            <a:extLst xmlns:a="http://schemas.openxmlformats.org/drawingml/2006/main">
              <a:ext uri="{FF2B5EF4-FFF2-40B4-BE49-F238E27FC236}">
                <a16:creationId xmlns:a16="http://schemas.microsoft.com/office/drawing/2014/main" id="{68A893AC-691D-43A5-8EA6-E78EAA71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Suivre les dossiers</a:t>
            </a:r>
          </a:p>
        </p:txBody>
      </p:sp>
      <p:sp>
        <p:nvSpPr>
          <p:cNvPr id="7" name="Text Consulter les profils, suivre les étapes et p">
            <a:extLst xmlns:a="http://schemas.openxmlformats.org/drawingml/2006/main">
              <a:ext uri="{FF2B5EF4-FFF2-40B4-BE49-F238E27FC236}">
                <a16:creationId xmlns:a16="http://schemas.microsoft.com/office/drawing/2014/main" id="{A6037F89-6C5D-4A35-B224-3B6E9CF1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Consulter les profils, suivre les étapes et planifier les entretiens.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8CAFA-4F57-4E48-9581-27B56D71A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589c983294b4c"/>
          <a:stretch xmlns:a="http://schemas.openxmlformats.org/drawingml/2006/main"/>
        </p:blipFill>
        <p:spPr>
          <a:xfrm xmlns:a="http://schemas.openxmlformats.org/drawingml/2006/main">
            <a:off x="4483100" y="1990725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9" name="Text Capture du produit avec des données de démons">
            <a:extLst xmlns:a="http://schemas.openxmlformats.org/drawingml/2006/main">
              <a:ext uri="{FF2B5EF4-FFF2-40B4-BE49-F238E27FC236}">
                <a16:creationId xmlns:a16="http://schemas.microsoft.com/office/drawing/2014/main" id="{CA2B07BC-49F8-437A-BCB9-CCD19F7E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Capture du produit avec des données de démonstration.</a:t>
            </a:r>
          </a:p>
        </p:txBody>
      </p:sp>
    </p:spTree>
    <p:extLst>
      <p:ext uri="{BB962C8B-B14F-4D97-AF65-F5344CB8AC3E}">
        <p14:creationId xmlns:p14="http://schemas.microsoft.com/office/powerpoint/2010/main" val="1435566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E4D9A744-A643-4115-9BD3-721EC85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Un matching explicable">
            <a:extLst xmlns:a="http://schemas.openxmlformats.org/drawingml/2006/main">
              <a:ext uri="{FF2B5EF4-FFF2-40B4-BE49-F238E27FC236}">
                <a16:creationId xmlns:a16="http://schemas.microsoft.com/office/drawing/2014/main" id="{140EEBF0-2F65-473E-A10C-459D958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Un matching explicable</a:t>
            </a:r>
          </a:p>
        </p:txBody>
      </p:sp>
      <p:sp>
        <p:nvSpPr>
          <p:cNvPr id="3" name="Text 06">
            <a:extLst xmlns:a="http://schemas.openxmlformats.org/drawingml/2006/main">
              <a:ext uri="{FF2B5EF4-FFF2-40B4-BE49-F238E27FC236}">
                <a16:creationId xmlns:a16="http://schemas.microsoft.com/office/drawing/2014/main" id="{099F59C2-8EE4-4531-B9D8-5928F641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 Lire la correspondance">
            <a:extLst xmlns:a="http://schemas.openxmlformats.org/drawingml/2006/main">
              <a:ext uri="{FF2B5EF4-FFF2-40B4-BE49-F238E27FC236}">
                <a16:creationId xmlns:a16="http://schemas.microsoft.com/office/drawing/2014/main" id="{F4F44041-1EC3-4E16-A064-BEE602B1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Lire la correspondance</a:t>
            </a:r>
          </a:p>
        </p:txBody>
      </p:sp>
      <p:sp>
        <p:nvSpPr>
          <p:cNvPr id="5" name="Text Une analyse présente les compétences communes">
            <a:extLst xmlns:a="http://schemas.openxmlformats.org/drawingml/2006/main">
              <a:ext uri="{FF2B5EF4-FFF2-40B4-BE49-F238E27FC236}">
                <a16:creationId xmlns:a16="http://schemas.microsoft.com/office/drawing/2014/main" id="{EADCA884-5278-47E0-BE22-BF2D0FE7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Une analyse présente les compétences communes et les points à approfondir.</a:t>
            </a:r>
          </a:p>
        </p:txBody>
      </p:sp>
      <p:sp>
        <p:nvSpPr>
          <p:cNvPr id="6" name="Text La décision humaine">
            <a:extLst xmlns:a="http://schemas.openxmlformats.org/drawingml/2006/main">
              <a:ext uri="{FF2B5EF4-FFF2-40B4-BE49-F238E27FC236}">
                <a16:creationId xmlns:a16="http://schemas.microsoft.com/office/drawing/2014/main" id="{8C7C95C5-FB7C-4DEA-B208-AF92C301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La décision humaine</a:t>
            </a:r>
          </a:p>
        </p:txBody>
      </p:sp>
      <p:sp>
        <p:nvSpPr>
          <p:cNvPr id="7" name="Text L’IA accompagne l’analyse. Le recruteur décid">
            <a:extLst xmlns:a="http://schemas.openxmlformats.org/drawingml/2006/main">
              <a:ext uri="{FF2B5EF4-FFF2-40B4-BE49-F238E27FC236}">
                <a16:creationId xmlns:a16="http://schemas.microsoft.com/office/drawing/2014/main" id="{C0BDBC37-481D-42F7-BBDD-E22FED1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L’IA accompagne l’analyse. Le recruteur décide de la suite.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C93F7-CA7A-464A-AF8A-9062A7B49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feef1c62a4418"/>
          <a:stretch xmlns:a="http://schemas.openxmlformats.org/drawingml/2006/main"/>
        </p:blipFill>
        <p:spPr>
          <a:xfrm xmlns:a="http://schemas.openxmlformats.org/drawingml/2006/main">
            <a:off x="4667250" y="2095500"/>
            <a:ext cx="6553200" cy="3686175"/>
          </a:xfrm>
          <a:prstGeom xmlns:a="http://schemas.openxmlformats.org/drawingml/2006/main" prst="rect">
            <a:avLst/>
          </a:prstGeom>
        </p:spPr>
      </p:pic>
      <p:sp>
        <p:nvSpPr>
          <p:cNvPr id="9" name="Text Les scores visibles illustrent une démonstrat">
            <a:extLst xmlns:a="http://schemas.openxmlformats.org/drawingml/2006/main">
              <a:ext uri="{FF2B5EF4-FFF2-40B4-BE49-F238E27FC236}">
                <a16:creationId xmlns:a16="http://schemas.microsoft.com/office/drawing/2014/main" id="{5B529F2A-BAB6-4E65-A59E-8A7541E8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Les scores visibles illustrent une démonstration, pas une mesure de performance du modèle.</a:t>
            </a:r>
          </a:p>
        </p:txBody>
      </p:sp>
    </p:spTree>
    <p:extLst>
      <p:ext uri="{BB962C8B-B14F-4D97-AF65-F5344CB8AC3E}">
        <p14:creationId xmlns:p14="http://schemas.microsoft.com/office/powerpoint/2010/main" val="205164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B014B3FC-9D0E-4EED-B525-85718B2C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marché de départ : la Tunisie">
            <a:extLst xmlns:a="http://schemas.openxmlformats.org/drawingml/2006/main">
              <a:ext uri="{FF2B5EF4-FFF2-40B4-BE49-F238E27FC236}">
                <a16:creationId xmlns:a16="http://schemas.microsoft.com/office/drawing/2014/main" id="{A2F11A02-C467-43E2-840A-38355C1A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marché de départ : la Tunisie</a:t>
            </a:r>
          </a:p>
        </p:txBody>
      </p:sp>
      <p:sp>
        <p:nvSpPr>
          <p:cNvPr id="3" name="Text 07">
            <a:extLst xmlns:a="http://schemas.openxmlformats.org/drawingml/2006/main">
              <a:ext uri="{FF2B5EF4-FFF2-40B4-BE49-F238E27FC236}">
                <a16:creationId xmlns:a16="http://schemas.microsoft.com/office/drawing/2014/main" id="{F5559926-57DA-4291-BBF0-A121A8AC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 Startups et PME">
            <a:extLst xmlns:a="http://schemas.openxmlformats.org/drawingml/2006/main">
              <a:ext uri="{FF2B5EF4-FFF2-40B4-BE49-F238E27FC236}">
                <a16:creationId xmlns:a16="http://schemas.microsoft.com/office/drawing/2014/main" id="{DBD62037-6100-40E8-975E-653CDBB8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Startups et PME</a:t>
            </a:r>
          </a:p>
        </p:txBody>
      </p:sp>
      <p:sp>
        <p:nvSpPr>
          <p:cNvPr id="5" name="Text Des entreprises qui souhaitent structurer leu">
            <a:extLst xmlns:a="http://schemas.openxmlformats.org/drawingml/2006/main">
              <a:ext uri="{FF2B5EF4-FFF2-40B4-BE49-F238E27FC236}">
                <a16:creationId xmlns:a16="http://schemas.microsoft.com/office/drawing/2014/main" id="{E32BC7B9-16B4-496F-BB10-68E5EED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19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Des entreprises qui souhaitent structurer leurs recrutements avec un outil accessible.</a:t>
            </a:r>
          </a:p>
        </p:txBody>
      </p:sp>
      <p:sp>
        <p:nvSpPr>
          <p:cNvPr id="6" name="Text Candidats">
            <a:extLst xmlns:a="http://schemas.openxmlformats.org/drawingml/2006/main">
              <a:ext uri="{FF2B5EF4-FFF2-40B4-BE49-F238E27FC236}">
                <a16:creationId xmlns:a16="http://schemas.microsoft.com/office/drawing/2014/main" id="{6466D0F0-A608-4A3C-850A-17DB3970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CE2CE"/>
                </a:solidFill>
                <a:latin typeface="Arial"/>
                <a:ea typeface="Arial"/>
                <a:cs typeface="Arial"/>
              </a:rPr>
              <a:t>Candidats</a:t>
            </a:r>
          </a:p>
        </p:txBody>
      </p:sp>
      <p:sp>
        <p:nvSpPr>
          <p:cNvPr id="7" name="Text Des personnes qui recherchent un emploi et ve">
            <a:extLst xmlns:a="http://schemas.openxmlformats.org/drawingml/2006/main">
              <a:ext uri="{FF2B5EF4-FFF2-40B4-BE49-F238E27FC236}">
                <a16:creationId xmlns:a16="http://schemas.microsoft.com/office/drawing/2014/main" id="{03775293-F629-4A83-B69A-E86A1D72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Des personnes qui recherchent un emploi et veulent mieux préparer et suivre leurs démarches.</a:t>
            </a:r>
          </a:p>
        </p:txBody>
      </p:sp>
      <p:sp>
        <p:nvSpPr>
          <p:cNvPr id="8" name="Text Expansion envisagée au Maghreb après validati">
            <a:extLst xmlns:a="http://schemas.openxmlformats.org/drawingml/2006/main">
              <a:ext uri="{FF2B5EF4-FFF2-40B4-BE49-F238E27FC236}">
                <a16:creationId xmlns:a16="http://schemas.microsoft.com/office/drawing/2014/main" id="{932CCC69-4280-456A-A0DE-E969B1C3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Expansion envisagée au Maghreb après validation des usages en Tunisie.</a:t>
            </a:r>
          </a:p>
        </p:txBody>
      </p:sp>
    </p:spTree>
    <p:extLst>
      <p:ext uri="{BB962C8B-B14F-4D97-AF65-F5344CB8AC3E}">
        <p14:creationId xmlns:p14="http://schemas.microsoft.com/office/powerpoint/2010/main" val="523998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F49A20A1-61B1-42A7-B13A-D8A92EEB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ositionnement concurrentiel">
            <a:extLst xmlns:a="http://schemas.openxmlformats.org/drawingml/2006/main">
              <a:ext uri="{FF2B5EF4-FFF2-40B4-BE49-F238E27FC236}">
                <a16:creationId xmlns:a16="http://schemas.microsoft.com/office/drawing/2014/main" id="{3342A8FC-FF2C-4F29-B8ED-4A22EFF6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positionnement concurrentiel</a:t>
            </a:r>
          </a:p>
        </p:txBody>
      </p:sp>
      <p:sp>
        <p:nvSpPr>
          <p:cNvPr id="3" name="Text 08">
            <a:extLst xmlns:a="http://schemas.openxmlformats.org/drawingml/2006/main">
              <a:ext uri="{FF2B5EF4-FFF2-40B4-BE49-F238E27FC236}">
                <a16:creationId xmlns:a16="http://schemas.microsoft.com/office/drawing/2014/main" id="{CF6A1E97-7D76-4D57-B1A7-35D8B18E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 Des acteurs déjà présents">
            <a:extLst xmlns:a="http://schemas.openxmlformats.org/drawingml/2006/main">
              <a:ext uri="{FF2B5EF4-FFF2-40B4-BE49-F238E27FC236}">
                <a16:creationId xmlns:a16="http://schemas.microsoft.com/office/drawing/2014/main" id="{AFE982D6-90AD-4287-BA06-AC8A9401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Des acteurs déjà présents</a:t>
            </a:r>
          </a:p>
        </p:txBody>
      </p:sp>
      <p:sp>
        <p:nvSpPr>
          <p:cNvPr id="5" name="Text Keejob et Tanitjobs&#10;Offres d’emploi et servic">
            <a:extLst xmlns:a="http://schemas.openxmlformats.org/drawingml/2006/main">
              <a:ext uri="{FF2B5EF4-FFF2-40B4-BE49-F238E27FC236}">
                <a16:creationId xmlns:a16="http://schemas.microsoft.com/office/drawing/2014/main" id="{3414C85E-B9A3-42F4-AB43-CC3F7A4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Keejob et Tanitjobs</a:t>
            </a:r>
          </a:p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Offres d’emploi et services aux recruteurs.</a:t>
            </a:r>
          </a:p>
        </p:txBody>
      </p:sp>
      <p:sp>
        <p:nvSpPr>
          <p:cNvPr id="6" name="Text LinkedIn Recruiter&#10;Recherche de profils et pr">
            <a:extLst xmlns:a="http://schemas.openxmlformats.org/drawingml/2006/main">
              <a:ext uri="{FF2B5EF4-FFF2-40B4-BE49-F238E27FC236}">
                <a16:creationId xmlns:a16="http://schemas.microsoft.com/office/drawing/2014/main" id="{ACDFD20E-B1EE-4182-91FD-45105BC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LinkedIn Recruiter</a:t>
            </a:r>
          </a:p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Recherche de profils et prise de contact.</a:t>
            </a:r>
          </a:p>
        </p:txBody>
      </p:sp>
      <p:sp>
        <p:nvSpPr>
          <p:cNvPr id="7" name="Text L’angle EasyJob">
            <a:extLst xmlns:a="http://schemas.openxmlformats.org/drawingml/2006/main">
              <a:ext uri="{FF2B5EF4-FFF2-40B4-BE49-F238E27FC236}">
                <a16:creationId xmlns:a16="http://schemas.microsoft.com/office/drawing/2014/main" id="{206B68E0-9466-4288-9834-B790642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L’angle EasyJob</a:t>
            </a:r>
          </a:p>
        </p:txBody>
      </p:sp>
      <p:sp>
        <p:nvSpPr>
          <p:cNvPr id="8" name="Text Associer l’accompagnement du candidat, le sui">
            <a:extLst xmlns:a="http://schemas.openxmlformats.org/drawingml/2006/main">
              <a:ext uri="{FF2B5EF4-FFF2-40B4-BE49-F238E27FC236}">
                <a16:creationId xmlns:a16="http://schemas.microsoft.com/office/drawing/2014/main" id="{D5577889-71C5-4D4A-93D7-97A11950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38475"/>
            <a:ext cx="45434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Associer l’accompagnement du candidat, le suivi du recrutement et l’analyse explicable dans une expérience multilingue.</a:t>
            </a:r>
          </a:p>
        </p:txBody>
      </p:sp>
      <p:sp>
        <p:nvSpPr>
          <p:cNvPr id="9" name="Text Positionnement visé. La différenciation devra">
            <a:extLst xmlns:a="http://schemas.openxmlformats.org/drawingml/2006/main">
              <a:ext uri="{FF2B5EF4-FFF2-40B4-BE49-F238E27FC236}">
                <a16:creationId xmlns:a16="http://schemas.microsoft.com/office/drawing/2014/main" id="{E10BD530-10F3-446E-B3C2-FCBDEA0C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Positionnement visé. La différenciation devra se confirmer auprès des utilisateurs.</a:t>
            </a:r>
          </a:p>
        </p:txBody>
      </p:sp>
      <p:sp>
        <p:nvSpPr>
          <p:cNvPr id="10" name="Text Sources : keejob.com/recruiter/ ; tanitjobs.c">
            <a:extLst xmlns:a="http://schemas.openxmlformats.org/drawingml/2006/main">
              <a:ext uri="{FF2B5EF4-FFF2-40B4-BE49-F238E27FC236}">
                <a16:creationId xmlns:a16="http://schemas.microsoft.com/office/drawing/2014/main" id="{422CD17D-0692-45C1-8216-A4B79329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Sources : keejob.com/recruiter/ ; tanitjobs.com ; LinkedIn Talent Solutions</a:t>
            </a:r>
          </a:p>
        </p:txBody>
      </p:sp>
    </p:spTree>
    <p:extLst>
      <p:ext uri="{BB962C8B-B14F-4D97-AF65-F5344CB8AC3E}">
        <p14:creationId xmlns:p14="http://schemas.microsoft.com/office/powerpoint/2010/main" val="1153244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14F345BC-45A5-4E1C-A3D7-0F1EABB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modèle économique envisagé">
            <a:extLst xmlns:a="http://schemas.openxmlformats.org/drawingml/2006/main">
              <a:ext uri="{FF2B5EF4-FFF2-40B4-BE49-F238E27FC236}">
                <a16:creationId xmlns:a16="http://schemas.microsoft.com/office/drawing/2014/main" id="{36D9AF47-C1DC-47FD-824A-54657B1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modèle économique envisagé</a:t>
            </a:r>
          </a:p>
        </p:txBody>
      </p:sp>
      <p:sp>
        <p:nvSpPr>
          <p:cNvPr id="3" name="Text Un accès gratuit aux fonctions essentielles e">
            <a:extLst xmlns:a="http://schemas.openxmlformats.org/drawingml/2006/main">
              <a:ext uri="{FF2B5EF4-FFF2-40B4-BE49-F238E27FC236}">
                <a16:creationId xmlns:a16="http://schemas.microsoft.com/office/drawing/2014/main" id="{DB47855C-9C05-4C99-92B0-5EE1E573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accès gratuit aux fonctions essentielles et des abonnements avancés.</a:t>
            </a:r>
          </a:p>
        </p:txBody>
      </p:sp>
      <p:sp>
        <p:nvSpPr>
          <p:cNvPr id="4" name="Text 09">
            <a:extLst xmlns:a="http://schemas.openxmlformats.org/drawingml/2006/main">
              <a:ext uri="{FF2B5EF4-FFF2-40B4-BE49-F238E27FC236}">
                <a16:creationId xmlns:a16="http://schemas.microsoft.com/office/drawing/2014/main" id="{82DCA39A-5C18-41A2-AA68-0EC45C23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 Candidats">
            <a:extLst xmlns:a="http://schemas.openxmlformats.org/drawingml/2006/main">
              <a:ext uri="{FF2B5EF4-FFF2-40B4-BE49-F238E27FC236}">
                <a16:creationId xmlns:a16="http://schemas.microsoft.com/office/drawing/2014/main" id="{B3519147-5011-49B7-BC19-F570F22F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829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Candidats</a:t>
            </a:r>
          </a:p>
        </p:txBody>
      </p:sp>
      <p:sp>
        <p:nvSpPr>
          <p:cNvPr id="6" name="Text Un abonnement pour les fonctions d’accompagne">
            <a:extLst xmlns:a="http://schemas.openxmlformats.org/drawingml/2006/main">
              <a:ext uri="{FF2B5EF4-FFF2-40B4-BE49-F238E27FC236}">
                <a16:creationId xmlns:a16="http://schemas.microsoft.com/office/drawing/2014/main" id="{3478F6FD-9B72-4ACF-8F17-2F6C4B31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829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abonnement pour les fonctions d’accompagnement et de préparation avancées.</a:t>
            </a:r>
          </a:p>
        </p:txBody>
      </p:sp>
      <p:sp>
        <p:nvSpPr>
          <p:cNvPr id="7" name="Text Entreprises">
            <a:extLst xmlns:a="http://schemas.openxmlformats.org/drawingml/2006/main">
              <a:ext uri="{FF2B5EF4-FFF2-40B4-BE49-F238E27FC236}">
                <a16:creationId xmlns:a16="http://schemas.microsoft.com/office/drawing/2014/main" id="{8C76EEB3-AF2F-45E5-87C6-8BB0889B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Entreprises</a:t>
            </a:r>
          </a:p>
        </p:txBody>
      </p:sp>
      <p:sp>
        <p:nvSpPr>
          <p:cNvPr id="8" name="Text Un abonnement pour les besoins de recrutement">
            <a:extLst xmlns:a="http://schemas.openxmlformats.org/drawingml/2006/main">
              <a:ext uri="{FF2B5EF4-FFF2-40B4-BE49-F238E27FC236}">
                <a16:creationId xmlns:a16="http://schemas.microsoft.com/office/drawing/2014/main" id="{C2095F0E-24B0-49EC-9DCE-D747A118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abonnement pour les besoins de recrutement et de gestion plus étendus.</a:t>
            </a:r>
          </a:p>
        </p:txBody>
      </p:sp>
      <p:sp>
        <p:nvSpPr>
          <p:cNvPr id="9" name="Text La prochaine validation : identifier les usag">
            <a:extLst xmlns:a="http://schemas.openxmlformats.org/drawingml/2006/main">
              <a:ext uri="{FF2B5EF4-FFF2-40B4-BE49-F238E27FC236}">
                <a16:creationId xmlns:a16="http://schemas.microsoft.com/office/drawing/2014/main" id="{90EE3FD1-4B10-4240-8C1E-383193EC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La prochaine validation : identifier les usages récurrents et la disposition à payer.</a:t>
            </a:r>
          </a:p>
        </p:txBody>
      </p:sp>
    </p:spTree>
    <p:extLst>
      <p:ext uri="{BB962C8B-B14F-4D97-AF65-F5344CB8AC3E}">
        <p14:creationId xmlns:p14="http://schemas.microsoft.com/office/powerpoint/2010/main" val="91315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8CCB09D6-C527-42BC-927A-E37AB3ED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’acquisition des premiers utilisateurs">
            <a:extLst xmlns:a="http://schemas.openxmlformats.org/drawingml/2006/main">
              <a:ext uri="{FF2B5EF4-FFF2-40B4-BE49-F238E27FC236}">
                <a16:creationId xmlns:a16="http://schemas.microsoft.com/office/drawing/2014/main" id="{53F3F466-1657-4947-91C2-278817B6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L’acquisition des premiers utilisateurs</a:t>
            </a:r>
          </a:p>
        </p:txBody>
      </p:sp>
      <p:sp>
        <p:nvSpPr>
          <p:cNvPr id="3" name="Text Actions envisagées pour lancer les premiers t">
            <a:extLst xmlns:a="http://schemas.openxmlformats.org/drawingml/2006/main">
              <a:ext uri="{FF2B5EF4-FFF2-40B4-BE49-F238E27FC236}">
                <a16:creationId xmlns:a16="http://schemas.microsoft.com/office/drawing/2014/main" id="{C5DF8B99-790D-4FE2-83EB-53DD6D58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Actions envisagées pour lancer les premiers tests en Tunisie.</a:t>
            </a:r>
          </a:p>
        </p:txBody>
      </p:sp>
      <p:sp>
        <p:nvSpPr>
          <p:cNvPr id="4" name="Text 10">
            <a:extLst xmlns:a="http://schemas.openxmlformats.org/drawingml/2006/main">
              <a:ext uri="{FF2B5EF4-FFF2-40B4-BE49-F238E27FC236}">
                <a16:creationId xmlns:a16="http://schemas.microsoft.com/office/drawing/2014/main" id="{D5FE2BAA-CD53-4689-8F4C-0DC7B5A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 Entreprises pilotes">
            <a:extLst xmlns:a="http://schemas.openxmlformats.org/drawingml/2006/main">
              <a:ext uri="{FF2B5EF4-FFF2-40B4-BE49-F238E27FC236}">
                <a16:creationId xmlns:a16="http://schemas.microsoft.com/office/drawing/2014/main" id="{F480EBD1-004D-4048-80C3-7BBAA46A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Entreprises pilotes</a:t>
            </a:r>
          </a:p>
        </p:txBody>
      </p:sp>
      <p:sp>
        <p:nvSpPr>
          <p:cNvPr id="6" name="Text Prospection directe de startups et PME. Démon">
            <a:extLst xmlns:a="http://schemas.openxmlformats.org/drawingml/2006/main">
              <a:ext uri="{FF2B5EF4-FFF2-40B4-BE49-F238E27FC236}">
                <a16:creationId xmlns:a16="http://schemas.microsoft.com/office/drawing/2014/main" id="{B890DAE2-F4D2-4670-81B4-F0EC983C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Prospection directe de startups et PME. Démonstrations centrées sur un recrutement concret.</a:t>
            </a:r>
          </a:p>
        </p:txBody>
      </p:sp>
      <p:sp>
        <p:nvSpPr>
          <p:cNvPr id="7" name="Text Communautés de candidats">
            <a:extLst xmlns:a="http://schemas.openxmlformats.org/drawingml/2006/main">
              <a:ext uri="{FF2B5EF4-FFF2-40B4-BE49-F238E27FC236}">
                <a16:creationId xmlns:a16="http://schemas.microsoft.com/office/drawing/2014/main" id="{23640600-ECDD-47C9-8CC7-2A078EDA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14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Communautés de candidats</a:t>
            </a:r>
          </a:p>
        </p:txBody>
      </p:sp>
      <p:sp>
        <p:nvSpPr>
          <p:cNvPr id="8" name="Text Prise de contact avec des communautés étudian">
            <a:extLst xmlns:a="http://schemas.openxmlformats.org/drawingml/2006/main">
              <a:ext uri="{FF2B5EF4-FFF2-40B4-BE49-F238E27FC236}">
                <a16:creationId xmlns:a16="http://schemas.microsoft.com/office/drawing/2014/main" id="{52EAD887-79FD-400C-B374-B2827CB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099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Prise de contact avec des communautés étudiantes et professionnelles. Contenus utiles sur le CV et l’entretien.</a:t>
            </a:r>
          </a:p>
        </p:txBody>
      </p:sp>
      <p:sp>
        <p:nvSpPr>
          <p:cNvPr id="9" name="Text Une boucle courte : tester le parcours, recue">
            <a:extLst xmlns:a="http://schemas.openxmlformats.org/drawingml/2006/main">
              <a:ext uri="{FF2B5EF4-FFF2-40B4-BE49-F238E27FC236}">
                <a16:creationId xmlns:a16="http://schemas.microsoft.com/office/drawing/2014/main" id="{F952C31F-E98C-41B0-A591-81990209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Une boucle courte : tester le parcours, recueillir les retours, améliorer le produit.</a:t>
            </a:r>
          </a:p>
        </p:txBody>
      </p:sp>
    </p:spTree>
    <p:extLst>
      <p:ext uri="{BB962C8B-B14F-4D97-AF65-F5344CB8AC3E}">
        <p14:creationId xmlns:p14="http://schemas.microsoft.com/office/powerpoint/2010/main" val="613030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F93645FE-D9FA-44E5-BC60-778F6443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’avancement du projet">
            <a:extLst xmlns:a="http://schemas.openxmlformats.org/drawingml/2006/main">
              <a:ext uri="{FF2B5EF4-FFF2-40B4-BE49-F238E27FC236}">
                <a16:creationId xmlns:a16="http://schemas.microsoft.com/office/drawing/2014/main" id="{0C7DB60E-F7AC-4184-94F4-F6FDDA26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L’avancement du projet</a:t>
            </a:r>
          </a:p>
        </p:txBody>
      </p:sp>
      <p:sp>
        <p:nvSpPr>
          <p:cNvPr id="3" name="Text 11">
            <a:extLst xmlns:a="http://schemas.openxmlformats.org/drawingml/2006/main">
              <a:ext uri="{FF2B5EF4-FFF2-40B4-BE49-F238E27FC236}">
                <a16:creationId xmlns:a16="http://schemas.microsoft.com/office/drawing/2014/main" id="{B18151D5-74AD-41B2-A0CB-3193E43F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 MVP démontrable">
            <a:extLst xmlns:a="http://schemas.openxmlformats.org/drawingml/2006/main">
              <a:ext uri="{FF2B5EF4-FFF2-40B4-BE49-F238E27FC236}">
                <a16:creationId xmlns:a16="http://schemas.microsoft.com/office/drawing/2014/main" id="{457B7DD4-0E35-439B-A68D-5E4C46C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566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MVP démontrable</a:t>
            </a:r>
          </a:p>
        </p:txBody>
      </p:sp>
      <p:sp>
        <p:nvSpPr>
          <p:cNvPr id="5" name="Text Les espaces candidat et recruteur sont access">
            <a:extLst xmlns:a="http://schemas.openxmlformats.org/drawingml/2006/main">
              <a:ext uri="{FF2B5EF4-FFF2-40B4-BE49-F238E27FC236}">
                <a16:creationId xmlns:a16="http://schemas.microsoft.com/office/drawing/2014/main" id="{22DB5E9D-EC74-4B21-8AC6-9942BC51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14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Les espaces candidat et recruteur sont accessibles dans la démonstration du produit.</a:t>
            </a:r>
          </a:p>
        </p:txBody>
      </p:sp>
      <p:sp>
        <p:nvSpPr>
          <p:cNvPr id="6" name="Text Prochaine étape&#10;Valider l’utilisation réguliè">
            <a:extLst xmlns:a="http://schemas.openxmlformats.org/drawingml/2006/main">
              <a:ext uri="{FF2B5EF4-FFF2-40B4-BE49-F238E27FC236}">
                <a16:creationId xmlns:a16="http://schemas.microsoft.com/office/drawing/2014/main" id="{0F641E3E-88B4-4551-AFC2-898B297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24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Prochaine étape</a:t>
            </a:r>
          </a:p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Valider l’utilisation régulière et le passage à une offre payante.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BFCC5-38B8-4813-AF6F-1FE1E36CD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eb43fe6584536"/>
          <a:stretch xmlns:a="http://schemas.openxmlformats.org/drawingml/2006/main"/>
        </p:blipFill>
        <p:spPr>
          <a:xfrm xmlns:a="http://schemas.openxmlformats.org/drawingml/2006/main">
            <a:off x="6191250" y="2241352"/>
            <a:ext cx="5391150" cy="3032522"/>
          </a:xfrm>
          <a:prstGeom xmlns:a="http://schemas.openxmlformats.org/drawingml/2006/main" prst="rect">
            <a:avLst/>
          </a:prstGeom>
        </p:spPr>
      </p:pic>
      <p:sp>
        <p:nvSpPr>
          <p:cNvPr id="8" name="Text Priorités : fiabilité des parcours, retours d">
            <a:extLst xmlns:a="http://schemas.openxmlformats.org/drawingml/2006/main">
              <a:ext uri="{FF2B5EF4-FFF2-40B4-BE49-F238E27FC236}">
                <a16:creationId xmlns:a16="http://schemas.microsoft.com/office/drawing/2014/main" id="{C18A6AAF-3B74-4C85-8BA3-AF4814F7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Priorités : fiabilité des parcours, retours d’usage et qualité des analyses.</a:t>
            </a:r>
          </a:p>
        </p:txBody>
      </p:sp>
    </p:spTree>
    <p:extLst>
      <p:ext uri="{BB962C8B-B14F-4D97-AF65-F5344CB8AC3E}">
        <p14:creationId xmlns:p14="http://schemas.microsoft.com/office/powerpoint/2010/main" val="9490734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E0C6E529-36C9-44A0-87C7-F1CE5969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a feuille de route sur trois ans">
            <a:extLst xmlns:a="http://schemas.openxmlformats.org/drawingml/2006/main">
              <a:ext uri="{FF2B5EF4-FFF2-40B4-BE49-F238E27FC236}">
                <a16:creationId xmlns:a16="http://schemas.microsoft.com/office/drawing/2014/main" id="{9B99164B-608A-4368-B442-A76657F6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La feuille de route sur trois ans</a:t>
            </a:r>
          </a:p>
        </p:txBody>
      </p:sp>
      <p:sp>
        <p:nvSpPr>
          <p:cNvPr id="3" name="Text Trajectoire envisagée, à ajuster selon les re">
            <a:extLst xmlns:a="http://schemas.openxmlformats.org/drawingml/2006/main">
              <a:ext uri="{FF2B5EF4-FFF2-40B4-BE49-F238E27FC236}">
                <a16:creationId xmlns:a16="http://schemas.microsoft.com/office/drawing/2014/main" id="{A1448F6A-3EEC-44DF-B8E0-97CE58ED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Trajectoire envisagée, à ajuster selon les retours et les ressources disponibles.</a:t>
            </a:r>
          </a:p>
        </p:txBody>
      </p:sp>
      <p:sp>
        <p:nvSpPr>
          <p:cNvPr id="4" name="Text 12">
            <a:extLst xmlns:a="http://schemas.openxmlformats.org/drawingml/2006/main">
              <a:ext uri="{FF2B5EF4-FFF2-40B4-BE49-F238E27FC236}">
                <a16:creationId xmlns:a16="http://schemas.microsoft.com/office/drawing/2014/main" id="{68DB9548-9BA1-4BA9-A8DE-BE324ADE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 Année 1">
            <a:extLst xmlns:a="http://schemas.openxmlformats.org/drawingml/2006/main">
              <a:ext uri="{FF2B5EF4-FFF2-40B4-BE49-F238E27FC236}">
                <a16:creationId xmlns:a16="http://schemas.microsoft.com/office/drawing/2014/main" id="{62745359-53A1-4999-AE3F-3CCA74A0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Année 1</a:t>
            </a:r>
          </a:p>
        </p:txBody>
      </p:sp>
      <p:sp>
        <p:nvSpPr>
          <p:cNvPr id="6" name="Text Valider en Tunisie">
            <a:extLst xmlns:a="http://schemas.openxmlformats.org/drawingml/2006/main">
              <a:ext uri="{FF2B5EF4-FFF2-40B4-BE49-F238E27FC236}">
                <a16:creationId xmlns:a16="http://schemas.microsoft.com/office/drawing/2014/main" id="{2A9EDE41-5983-4D00-973A-4BA54F49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Valider en Tunisie</a:t>
            </a:r>
          </a:p>
        </p:txBody>
      </p:sp>
      <p:sp>
        <p:nvSpPr>
          <p:cNvPr id="7" name="Text Fiabiliser le MVP. Organiser les tests utilis">
            <a:extLst xmlns:a="http://schemas.openxmlformats.org/drawingml/2006/main">
              <a:ext uri="{FF2B5EF4-FFF2-40B4-BE49-F238E27FC236}">
                <a16:creationId xmlns:a16="http://schemas.microsoft.com/office/drawing/2014/main" id="{76CA19AB-2C11-41C3-8128-D92400D7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09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Fiabiliser le MVP. Organiser les tests utilisateurs et les premiers essais payants.</a:t>
            </a:r>
          </a:p>
        </p:txBody>
      </p:sp>
      <p:sp>
        <p:nvSpPr>
          <p:cNvPr id="8" name="Text Année 2">
            <a:extLst xmlns:a="http://schemas.openxmlformats.org/drawingml/2006/main">
              <a:ext uri="{FF2B5EF4-FFF2-40B4-BE49-F238E27FC236}">
                <a16:creationId xmlns:a16="http://schemas.microsoft.com/office/drawing/2014/main" id="{C781AF06-1210-4C32-AA49-CBFDF6D6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62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Année 2</a:t>
            </a:r>
          </a:p>
        </p:txBody>
      </p:sp>
      <p:sp>
        <p:nvSpPr>
          <p:cNvPr id="9" name="Text Développer l’adoption">
            <a:extLst xmlns:a="http://schemas.openxmlformats.org/drawingml/2006/main">
              <a:ext uri="{FF2B5EF4-FFF2-40B4-BE49-F238E27FC236}">
                <a16:creationId xmlns:a16="http://schemas.microsoft.com/office/drawing/2014/main" id="{68B46138-ED75-4443-93A7-979FAB4B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956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Développer l’adoption</a:t>
            </a:r>
          </a:p>
        </p:txBody>
      </p:sp>
      <p:sp>
        <p:nvSpPr>
          <p:cNvPr id="10" name="Text Améliorer la fidélisation et reproduire les c">
            <a:extLst xmlns:a="http://schemas.openxmlformats.org/drawingml/2006/main">
              <a:ext uri="{FF2B5EF4-FFF2-40B4-BE49-F238E27FC236}">
                <a16:creationId xmlns:a16="http://schemas.microsoft.com/office/drawing/2014/main" id="{A981B9C2-0F47-41EE-A696-4E4BC66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38625"/>
            <a:ext cx="309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Améliorer la fidélisation et reproduire les canaux d’acquisition qui fonctionnent.</a:t>
            </a:r>
          </a:p>
        </p:txBody>
      </p:sp>
      <p:sp>
        <p:nvSpPr>
          <p:cNvPr id="11" name="Text Année 3">
            <a:extLst xmlns:a="http://schemas.openxmlformats.org/drawingml/2006/main">
              <a:ext uri="{FF2B5EF4-FFF2-40B4-BE49-F238E27FC236}">
                <a16:creationId xmlns:a16="http://schemas.microsoft.com/office/drawing/2014/main" id="{573FE0D4-7A63-4C39-B35F-D69D420D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Année 3</a:t>
            </a:r>
          </a:p>
        </p:txBody>
      </p:sp>
      <p:sp>
        <p:nvSpPr>
          <p:cNvPr id="12" name="Text Évaluer l’expansion">
            <a:extLst xmlns:a="http://schemas.openxmlformats.org/drawingml/2006/main">
              <a:ext uri="{FF2B5EF4-FFF2-40B4-BE49-F238E27FC236}">
                <a16:creationId xmlns:a16="http://schemas.microsoft.com/office/drawing/2014/main" id="{7011412A-7670-47BC-811B-381D7AA9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Évaluer l’expansion</a:t>
            </a:r>
          </a:p>
        </p:txBody>
      </p:sp>
      <p:sp>
        <p:nvSpPr>
          <p:cNvPr id="13" name="Text Tester un autre marché du Maghreb si l’usage ">
            <a:extLst xmlns:a="http://schemas.openxmlformats.org/drawingml/2006/main">
              <a:ext uri="{FF2B5EF4-FFF2-40B4-BE49-F238E27FC236}">
                <a16:creationId xmlns:a16="http://schemas.microsoft.com/office/drawing/2014/main" id="{2405A809-571D-46B2-A224-3BE4330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309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Tester un autre marché du Maghreb si l’usage et le modèle économique le justifient.</a:t>
            </a:r>
          </a:p>
        </p:txBody>
      </p:sp>
      <p:sp>
        <p:nvSpPr>
          <p:cNvPr id="14" name="Text Indicateurs : utilisateurs actifs, entreprise">
            <a:extLst xmlns:a="http://schemas.openxmlformats.org/drawingml/2006/main">
              <a:ext uri="{FF2B5EF4-FFF2-40B4-BE49-F238E27FC236}">
                <a16:creationId xmlns:a16="http://schemas.microsoft.com/office/drawing/2014/main" id="{ADBC558F-8B80-4F82-98B8-EC7A5219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Indicateurs : utilisateurs actifs, entreprises actives, rétention et abonnements payants.</a:t>
            </a:r>
          </a:p>
        </p:txBody>
      </p:sp>
    </p:spTree>
    <p:extLst>
      <p:ext uri="{BB962C8B-B14F-4D97-AF65-F5344CB8AC3E}">
        <p14:creationId xmlns:p14="http://schemas.microsoft.com/office/powerpoint/2010/main" val="8126679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8E8AEEDD-0CE1-4252-9239-AAE9599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orteur du projet">
            <a:extLst xmlns:a="http://schemas.openxmlformats.org/drawingml/2006/main">
              <a:ext uri="{FF2B5EF4-FFF2-40B4-BE49-F238E27FC236}">
                <a16:creationId xmlns:a16="http://schemas.microsoft.com/office/drawing/2014/main" id="{53EE7D2F-1A79-42EF-BD0C-CF141A9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porteur du projet</a:t>
            </a:r>
          </a:p>
        </p:txBody>
      </p:sp>
      <p:sp>
        <p:nvSpPr>
          <p:cNvPr id="3" name="Text 13">
            <a:extLst xmlns:a="http://schemas.openxmlformats.org/drawingml/2006/main">
              <a:ext uri="{FF2B5EF4-FFF2-40B4-BE49-F238E27FC236}">
                <a16:creationId xmlns:a16="http://schemas.microsoft.com/office/drawing/2014/main" id="{4FD2231A-B796-4127-9F62-DEBAC256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 Yassine">
            <a:extLst xmlns:a="http://schemas.openxmlformats.org/drawingml/2006/main">
              <a:ext uri="{FF2B5EF4-FFF2-40B4-BE49-F238E27FC236}">
                <a16:creationId xmlns:a16="http://schemas.microsoft.com/office/drawing/2014/main" id="{3C4FCE8F-483D-4868-981C-919B11C8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609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Yassine</a:t>
            </a:r>
          </a:p>
        </p:txBody>
      </p:sp>
      <p:sp>
        <p:nvSpPr>
          <p:cNvPr id="5" name="Text Porteur d’EasyJob">
            <a:extLst xmlns:a="http://schemas.openxmlformats.org/drawingml/2006/main">
              <a:ext uri="{FF2B5EF4-FFF2-40B4-BE49-F238E27FC236}">
                <a16:creationId xmlns:a16="http://schemas.microsoft.com/office/drawing/2014/main" id="{C361E793-FA9B-40A6-8924-185F3F20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Porteur d’EasyJob</a:t>
            </a:r>
          </a:p>
        </p:txBody>
      </p:sp>
      <p:sp>
        <p:nvSpPr>
          <p:cNvPr id="6" name="Text Vision du produit et conduite du projet.">
            <a:extLst xmlns:a="http://schemas.openxmlformats.org/drawingml/2006/main">
              <a:ext uri="{FF2B5EF4-FFF2-40B4-BE49-F238E27FC236}">
                <a16:creationId xmlns:a16="http://schemas.microsoft.com/office/drawing/2014/main" id="{BF0F37AA-169C-49CA-945C-1A86E46F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5619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Vision du produit et conduite du projet.</a:t>
            </a:r>
          </a:p>
        </p:txBody>
      </p:sp>
      <p:sp>
        <p:nvSpPr>
          <p:cNvPr id="7" name="Text Renforts envisagés&#10;Expertise en recrutement e">
            <a:extLst xmlns:a="http://schemas.openxmlformats.org/drawingml/2006/main">
              <a:ext uri="{FF2B5EF4-FFF2-40B4-BE49-F238E27FC236}">
                <a16:creationId xmlns:a16="http://schemas.microsoft.com/office/drawing/2014/main" id="{78743873-266D-4AE9-A644-88BDAA53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Renforts envisagés</a:t>
            </a:r>
          </a:p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Expertise en recrutement et développement commercial.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47915-81AD-4D35-9DAF-8BF96CA00A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7ef6c9069401c"/>
          <a:stretch xmlns:a="http://schemas.openxmlformats.org/drawingml/2006/main"/>
        </p:blipFill>
        <p:spPr>
          <a:xfrm xmlns:a="http://schemas.openxmlformats.org/drawingml/2006/main">
            <a:off x="7743825" y="2143125"/>
            <a:ext cx="3619500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0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06AC98CF-7780-4887-8DE5-248C2732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s prochaines étapes">
            <a:extLst xmlns:a="http://schemas.openxmlformats.org/drawingml/2006/main">
              <a:ext uri="{FF2B5EF4-FFF2-40B4-BE49-F238E27FC236}">
                <a16:creationId xmlns:a16="http://schemas.microsoft.com/office/drawing/2014/main" id="{D3149B23-FE24-4F82-8968-A7C979C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Les prochaines étapes</a:t>
            </a:r>
          </a:p>
        </p:txBody>
      </p:sp>
      <p:sp>
        <p:nvSpPr>
          <p:cNvPr id="3" name="Text 14">
            <a:extLst xmlns:a="http://schemas.openxmlformats.org/drawingml/2006/main">
              <a:ext uri="{FF2B5EF4-FFF2-40B4-BE49-F238E27FC236}">
                <a16:creationId xmlns:a16="http://schemas.microsoft.com/office/drawing/2014/main" id="{44EA2FF9-0970-4FF9-A23F-E3733B62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 Rendre la recherche d’emploi plus claire&#10;et l">
            <a:extLst xmlns:a="http://schemas.openxmlformats.org/drawingml/2006/main">
              <a:ext uri="{FF2B5EF4-FFF2-40B4-BE49-F238E27FC236}">
                <a16:creationId xmlns:a16="http://schemas.microsoft.com/office/drawing/2014/main" id="{12D83B2A-DD0C-4789-ADF5-36BC42DD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858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Rendre la recherche d’emploi plus claire</a:t>
            </a:r>
          </a:p>
          <a:p xmlns:a="http://schemas.openxmlformats.org/drawingml/2006/main">
            <a:pPr>
              <a:defRPr sz="3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et le recrutement plus simple.</a:t>
            </a:r>
          </a:p>
        </p:txBody>
      </p:sp>
      <p:sp>
        <p:nvSpPr>
          <p:cNvPr id="5" name="Text Nous recherchons un accompagnement pour conso">
            <a:extLst xmlns:a="http://schemas.openxmlformats.org/drawingml/2006/main">
              <a:ext uri="{FF2B5EF4-FFF2-40B4-BE49-F238E27FC236}">
                <a16:creationId xmlns:a16="http://schemas.microsoft.com/office/drawing/2014/main" id="{C53FEE55-A4E0-4B41-A514-1962B5BF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9715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Nous recherchons un accompagnement pour consolider le produit et préparer les premières validations commerciales.</a:t>
            </a:r>
          </a:p>
        </p:txBody>
      </p:sp>
      <p:sp>
        <p:nvSpPr>
          <p:cNvPr id="6" name="Text Priorités d’accompagnement : expertise RH, ac">
            <a:extLst xmlns:a="http://schemas.openxmlformats.org/drawingml/2006/main">
              <a:ext uri="{FF2B5EF4-FFF2-40B4-BE49-F238E27FC236}">
                <a16:creationId xmlns:a16="http://schemas.microsoft.com/office/drawing/2014/main" id="{EC4846C4-97BD-47A2-AFCD-263EBA63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4FF"/>
                </a:solidFill>
                <a:latin typeface="Arial"/>
                <a:ea typeface="Arial"/>
                <a:cs typeface="Arial"/>
              </a:rPr>
              <a:t>Priorités d’accompagnement : expertise RH, accès à des entreprises pilotes et développement commercial.</a:t>
            </a:r>
          </a:p>
        </p:txBody>
      </p:sp>
    </p:spTree>
    <p:extLst>
      <p:ext uri="{BB962C8B-B14F-4D97-AF65-F5344CB8AC3E}">
        <p14:creationId xmlns:p14="http://schemas.microsoft.com/office/powerpoint/2010/main" val="1754773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2026-10-11T10:24:50.1160000Z</dcterms:created>
  <dcterms:modified xsi:type="dcterms:W3CDTF">2026-10-11T10:24:50.1170000Z</dcterms:modified>
</coreProperties>
</file>