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a3cc48ceeb48ed" /><Relationship Type="http://schemas.openxmlformats.org/officeDocument/2006/relationships/extended-properties" Target="/docProps/app.xml" Id="Rf65e009ba6534d60" /><Relationship Type="http://schemas.openxmlformats.org/officeDocument/2006/relationships/officeDocument" Target="/ppt/presentation.xml" Id="Rb99cd90a061647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e1c37ade4b4dda"/>
  </p:sldMasterIdLst>
  <p:notesMasterIdLst>
    <p:notesMasterId xmlns:r="http://schemas.openxmlformats.org/officeDocument/2006/relationships" r:id="R235c5df830484046"/>
  </p:notesMasterIdLst>
  <p:sldIdLst>
    <p:sldId xmlns:r="http://schemas.openxmlformats.org/officeDocument/2006/relationships" id="256" r:id="R81e48e150048435c"/>
    <p:sldId xmlns:r="http://schemas.openxmlformats.org/officeDocument/2006/relationships" id="257" r:id="Rd3ca164a720340c9"/>
    <p:sldId xmlns:r="http://schemas.openxmlformats.org/officeDocument/2006/relationships" id="258" r:id="Ree7f729487dc429d"/>
    <p:sldId xmlns:r="http://schemas.openxmlformats.org/officeDocument/2006/relationships" id="259" r:id="R6167789459ac40d7"/>
    <p:sldId xmlns:r="http://schemas.openxmlformats.org/officeDocument/2006/relationships" id="260" r:id="R0529b53dda0e48d8"/>
    <p:sldId xmlns:r="http://schemas.openxmlformats.org/officeDocument/2006/relationships" id="261" r:id="R76db56b69c054854"/>
    <p:sldId xmlns:r="http://schemas.openxmlformats.org/officeDocument/2006/relationships" id="262" r:id="R3ab4bd807bfc4a15"/>
    <p:sldId xmlns:r="http://schemas.openxmlformats.org/officeDocument/2006/relationships" id="263" r:id="R9b4b8c81287e4b0f"/>
    <p:sldId xmlns:r="http://schemas.openxmlformats.org/officeDocument/2006/relationships" id="264" r:id="Rd441dd0ec8a244da"/>
    <p:sldId xmlns:r="http://schemas.openxmlformats.org/officeDocument/2006/relationships" id="265" r:id="Rfc5d723c64df4651"/>
    <p:sldId xmlns:r="http://schemas.openxmlformats.org/officeDocument/2006/relationships" id="266" r:id="R557f5a68ff3045d0"/>
    <p:sldId xmlns:r="http://schemas.openxmlformats.org/officeDocument/2006/relationships" id="267" r:id="Rc7f6754d2d554147"/>
    <p:sldId xmlns:r="http://schemas.openxmlformats.org/officeDocument/2006/relationships" id="268" r:id="R040b0c6a74ac4e23"/>
    <p:sldId xmlns:r="http://schemas.openxmlformats.org/officeDocument/2006/relationships" id="269" r:id="Redefd44c7a0348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6732d396b84b9b" /><Relationship Type="http://schemas.openxmlformats.org/officeDocument/2006/relationships/slideMaster" Target="/ppt/slideMasters/slideMaster1.xml" Id="R59e1c37ade4b4dda" /><Relationship Type="http://schemas.openxmlformats.org/officeDocument/2006/relationships/notesMaster" Target="/ppt/notesMasters/notesMaster1.xml" Id="R235c5df830484046" /><Relationship Type="http://schemas.openxmlformats.org/officeDocument/2006/relationships/presProps" Target="/ppt/presProps.xml" Id="Rbd153b8eab0140b8" /><Relationship Type="http://schemas.openxmlformats.org/officeDocument/2006/relationships/tableStyles" Target="/ppt/tableStyles.xml" Id="Re8ceeb4c1d554022" /><Relationship Type="http://schemas.openxmlformats.org/officeDocument/2006/relationships/slide" Target="/ppt/slides/slide1.xml" Id="R81e48e150048435c" /><Relationship Type="http://schemas.openxmlformats.org/officeDocument/2006/relationships/slide" Target="/ppt/slides/slide2.xml" Id="Rd3ca164a720340c9" /><Relationship Type="http://schemas.openxmlformats.org/officeDocument/2006/relationships/slide" Target="/ppt/slides/slide3.xml" Id="Ree7f729487dc429d" /><Relationship Type="http://schemas.openxmlformats.org/officeDocument/2006/relationships/slide" Target="/ppt/slides/slide4.xml" Id="R6167789459ac40d7" /><Relationship Type="http://schemas.openxmlformats.org/officeDocument/2006/relationships/slide" Target="/ppt/slides/slide5.xml" Id="R0529b53dda0e48d8" /><Relationship Type="http://schemas.openxmlformats.org/officeDocument/2006/relationships/slide" Target="/ppt/slides/slide6.xml" Id="R76db56b69c054854" /><Relationship Type="http://schemas.openxmlformats.org/officeDocument/2006/relationships/slide" Target="/ppt/slides/slide7.xml" Id="R3ab4bd807bfc4a15" /><Relationship Type="http://schemas.openxmlformats.org/officeDocument/2006/relationships/slide" Target="/ppt/slides/slide8.xml" Id="R9b4b8c81287e4b0f" /><Relationship Type="http://schemas.openxmlformats.org/officeDocument/2006/relationships/slide" Target="/ppt/slides/slide9.xml" Id="Rd441dd0ec8a244da" /><Relationship Type="http://schemas.openxmlformats.org/officeDocument/2006/relationships/slide" Target="/ppt/slides/slide10.xml" Id="Rfc5d723c64df4651" /><Relationship Type="http://schemas.openxmlformats.org/officeDocument/2006/relationships/slide" Target="/ppt/slides/slide11.xml" Id="R557f5a68ff3045d0" /><Relationship Type="http://schemas.openxmlformats.org/officeDocument/2006/relationships/slide" Target="/ppt/slides/slide12.xml" Id="Rc7f6754d2d554147" /><Relationship Type="http://schemas.openxmlformats.org/officeDocument/2006/relationships/slide" Target="/ppt/slides/slide13.xml" Id="R040b0c6a74ac4e23" /><Relationship Type="http://schemas.openxmlformats.org/officeDocument/2006/relationships/slide" Target="/ppt/slides/slide14.xml" Id="Redefd44c7a0348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456284422248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9ac7fcfed9463d" /><Relationship Type="http://schemas.openxmlformats.org/officeDocument/2006/relationships/notesMaster" Target="/ppt/notesMasters/notesMaster1.xml" Id="Rbf51cac7582146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2b8fddc9314463" /><Relationship Type="http://schemas.openxmlformats.org/officeDocument/2006/relationships/notesMaster" Target="/ppt/notesMasters/notesMaster1.xml" Id="R815e0bd2157847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0ff919e11d4f9d" /><Relationship Type="http://schemas.openxmlformats.org/officeDocument/2006/relationships/notesMaster" Target="/ppt/notesMasters/notesMaster1.xml" Id="R458aaf73f22d4f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66bc7b4a9f472d" /><Relationship Type="http://schemas.openxmlformats.org/officeDocument/2006/relationships/notesMaster" Target="/ppt/notesMasters/notesMaster1.xml" Id="R989c652c1e2e46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cbe7234984481c" /><Relationship Type="http://schemas.openxmlformats.org/officeDocument/2006/relationships/notesMaster" Target="/ppt/notesMasters/notesMaster1.xml" Id="Rf8a5dbab90be4b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15b842ae534a8d" /><Relationship Type="http://schemas.openxmlformats.org/officeDocument/2006/relationships/notesMaster" Target="/ppt/notesMasters/notesMaster1.xml" Id="Rdd7d469515fb4b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c73f793679440b" /><Relationship Type="http://schemas.openxmlformats.org/officeDocument/2006/relationships/notesMaster" Target="/ppt/notesMasters/notesMaster1.xml" Id="R2598163897b140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2b63a42b17480a" /><Relationship Type="http://schemas.openxmlformats.org/officeDocument/2006/relationships/notesMaster" Target="/ppt/notesMasters/notesMaster1.xml" Id="Re6f9a6a6099349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71c4fbba8d4571" /><Relationship Type="http://schemas.openxmlformats.org/officeDocument/2006/relationships/notesMaster" Target="/ppt/notesMasters/notesMaster1.xml" Id="Rdd29f3d4857d4a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2b4620a0924f9a" /><Relationship Type="http://schemas.openxmlformats.org/officeDocument/2006/relationships/notesMaster" Target="/ppt/notesMasters/notesMaster1.xml" Id="Re449a207d68047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acad2f0c5c4679" /><Relationship Type="http://schemas.openxmlformats.org/officeDocument/2006/relationships/notesMaster" Target="/ppt/notesMasters/notesMaster1.xml" Id="R4a6e202be8814b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45b8be198b47fb" /><Relationship Type="http://schemas.openxmlformats.org/officeDocument/2006/relationships/notesMaster" Target="/ppt/notesMasters/notesMaster1.xml" Id="Ref6a60631d8941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e0c3cd32c44e9f" /><Relationship Type="http://schemas.openxmlformats.org/officeDocument/2006/relationships/notesMaster" Target="/ppt/notesMasters/notesMaster1.xml" Id="R9cbf0a25ee9e46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1ee1ccfae0450d" /><Relationship Type="http://schemas.openxmlformats.org/officeDocument/2006/relationships/notesMaster" Target="/ppt/notesMasters/notesMaster1.xml" Id="R6991c3e33de449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officielles consultées le 11 octobre 2026 : https://www.keejob.com/recruiter/ ; https://www.tanitjobs.com/ ; https://business.linkedin.com/content/dam/me/business/en-us/talent-solutions-lodestone/body/pdf/RecruiterDataSheet-LI.pdf . Description générale, sans comparaison exhaustive des fonctionnalités. Le positionnement EasyJob est une intention stratégique.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 EasyJob. Informations issues de la présentation du porteur et de la démonstration fournie. Les pistes commerciales et la feuille de route sont des intentions, pas des résultats acquis.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db4e9f7b745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ba32c8e8424a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e7b014c86f48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1a4cb7dec417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89824e4ee74f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d61e9e61343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7949BE-436C-405D-84FF-48DF63E416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2A36350-7BBE-4D6B-84FE-2EED75EE77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84C91A-53EE-4F3E-BF1D-87B167B5F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6A503D-336D-428D-8855-8836CF6801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0F27B7-2387-470B-A3EF-80C6A1F84B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E37126-E168-4465-8AE4-6AC7B11A6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16FE69-AA0A-44F1-A84C-D80B700E95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06CB232-6DEB-4C5E-9297-337BFBA278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44D63B-D5F6-4FEC-8AF2-15695C64F6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3F525C-2062-40D6-AECF-6ABD296881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3b60bd3d6d4ae9" /><Relationship Type="http://schemas.openxmlformats.org/officeDocument/2006/relationships/slideLayout" Target="/ppt/slideLayouts/slideLayout1.xml" Id="Re97a8b2049e141a8" /><Relationship Type="http://schemas.openxmlformats.org/officeDocument/2006/relationships/slideLayout" Target="/ppt/slideLayouts/slideLayout2.xml" Id="R8a3503e99ff34a8b" /><Relationship Type="http://schemas.openxmlformats.org/officeDocument/2006/relationships/slideLayout" Target="/ppt/slideLayouts/slideLayout3.xml" Id="Rf922a4b0c4114b02" /><Relationship Type="http://schemas.openxmlformats.org/officeDocument/2006/relationships/slideLayout" Target="/ppt/slideLayouts/slideLayout4.xml" Id="Rc23c8f223d38471c" /><Relationship Type="http://schemas.openxmlformats.org/officeDocument/2006/relationships/slideLayout" Target="/ppt/slideLayouts/slideLayout5.xml" Id="Rd9da6bd6c00a411c" /><Relationship Type="http://schemas.openxmlformats.org/officeDocument/2006/relationships/slideLayout" Target="/ppt/slideLayouts/slideLayout6.xml" Id="Rf91f6fd318d449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7a8b2049e141a8"/>
    <p:sldLayoutId xmlns:r="http://schemas.openxmlformats.org/officeDocument/2006/relationships" id="2147483650" r:id="R8a3503e99ff34a8b"/>
    <p:sldLayoutId xmlns:r="http://schemas.openxmlformats.org/officeDocument/2006/relationships" id="2147483651" r:id="Rf922a4b0c4114b02"/>
    <p:sldLayoutId xmlns:r="http://schemas.openxmlformats.org/officeDocument/2006/relationships" id="2147483652" r:id="Rc23c8f223d38471c"/>
    <p:sldLayoutId xmlns:r="http://schemas.openxmlformats.org/officeDocument/2006/relationships" id="2147483653" r:id="Rd9da6bd6c00a411c"/>
    <p:sldLayoutId xmlns:r="http://schemas.openxmlformats.org/officeDocument/2006/relationships" id="2147483654" r:id="Rf91f6fd318d449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fe52260154c28" /><Relationship Type="http://schemas.openxmlformats.org/officeDocument/2006/relationships/image" Target="/ppt/media/image.png" Id="R6864fabb4c1d4112" /><Relationship Type="http://schemas.openxmlformats.org/officeDocument/2006/relationships/notesSlide" Target="/ppt/notesSlides/notesSlide1.xml" Id="R9f137106dcb347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52093a284e4899" /><Relationship Type="http://schemas.openxmlformats.org/officeDocument/2006/relationships/notesSlide" Target="/ppt/notesSlides/notesSlide2.xml" Id="R35e30512672940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6f113f65b435a" /><Relationship Type="http://schemas.openxmlformats.org/officeDocument/2006/relationships/notesSlide" Target="/ppt/notesSlides/notesSlide3.xml" Id="R8722c66bb97d46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0fe5a126724e7d" /><Relationship Type="http://schemas.openxmlformats.org/officeDocument/2006/relationships/image" Target="/ppt/media/image2.png" Id="Rd3ff9563ba3844b7" /><Relationship Type="http://schemas.openxmlformats.org/officeDocument/2006/relationships/notesSlide" Target="/ppt/notesSlides/notesSlide4.xml" Id="Rd5636e6a863341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ccc70ee722468b" /><Relationship Type="http://schemas.openxmlformats.org/officeDocument/2006/relationships/image" Target="/ppt/media/image3.png" Id="Rf0005a2fa9f64629" /><Relationship Type="http://schemas.openxmlformats.org/officeDocument/2006/relationships/notesSlide" Target="/ppt/notesSlides/notesSlide5.xml" Id="Rfce43f9c2ac44a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f584ea7ef24177" /><Relationship Type="http://schemas.openxmlformats.org/officeDocument/2006/relationships/image" Target="/ppt/media/image4.png" Id="R81999eb1d4844d3c" /><Relationship Type="http://schemas.openxmlformats.org/officeDocument/2006/relationships/notesSlide" Target="/ppt/notesSlides/notesSlide6.xml" Id="R801ee3fd0ef247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982d2fa2c40ee" /><Relationship Type="http://schemas.openxmlformats.org/officeDocument/2006/relationships/notesSlide" Target="/ppt/notesSlides/notesSlide7.xml" Id="Red06596e9a8e4d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3251d308a441cb" /><Relationship Type="http://schemas.openxmlformats.org/officeDocument/2006/relationships/notesSlide" Target="/ppt/notesSlides/notesSlide8.xml" Id="R02017ade22dd42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09539cd784b10" /><Relationship Type="http://schemas.openxmlformats.org/officeDocument/2006/relationships/notesSlide" Target="/ppt/notesSlides/notesSlide9.xml" Id="Re862f1d426c340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428ed8ab944eaf" /><Relationship Type="http://schemas.openxmlformats.org/officeDocument/2006/relationships/notesSlide" Target="/ppt/notesSlides/notesSlide10.xml" Id="R19e131cb2e9a4e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01d17c3bb34bf6" /><Relationship Type="http://schemas.openxmlformats.org/officeDocument/2006/relationships/image" Target="/ppt/media/image5.png" Id="Ra5b696a6490d433d" /><Relationship Type="http://schemas.openxmlformats.org/officeDocument/2006/relationships/notesSlide" Target="/ppt/notesSlides/notesSlide11.xml" Id="Ra3bb62c149354b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b7185053184e48" /><Relationship Type="http://schemas.openxmlformats.org/officeDocument/2006/relationships/notesSlide" Target="/ppt/notesSlides/notesSlide12.xml" Id="R84a2a4030d834f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85727dc8ad424a" /><Relationship Type="http://schemas.openxmlformats.org/officeDocument/2006/relationships/image" Target="/ppt/media/image.jpeg" Id="R9f3f1f54428947c5" /><Relationship Type="http://schemas.openxmlformats.org/officeDocument/2006/relationships/notesSlide" Target="/ppt/notesSlides/notesSlide13.xml" Id="R75bc3d5339cc4e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37089ab6354c86" /><Relationship Type="http://schemas.openxmlformats.org/officeDocument/2006/relationships/notesSlide" Target="/ppt/notesSlides/notesSlide14.xml" Id="Re627f10c3cd04d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39367512-58DA-401A-B203-A8738DF3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01">
            <a:extLst xmlns:a="http://schemas.openxmlformats.org/drawingml/2006/main">
              <a:ext uri="{FF2B5EF4-FFF2-40B4-BE49-F238E27FC236}">
                <a16:creationId xmlns:a16="http://schemas.microsoft.com/office/drawing/2014/main" id="{2962C779-FE8B-44AA-B25A-70C1376E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44D0F311-4389-49AF-ADE4-A00F91E9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660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60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4" name="Text Le recrutement assisté&#10;par l’intelligence art">
            <a:extLst xmlns:a="http://schemas.openxmlformats.org/drawingml/2006/main">
              <a:ext uri="{FF2B5EF4-FFF2-40B4-BE49-F238E27FC236}">
                <a16:creationId xmlns:a16="http://schemas.microsoft.com/office/drawing/2014/main" id="{3B142475-7735-45DE-AEAB-7DE8195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Le recrutement assisté</a:t>
            </a:r>
          </a:p>
          <a:p xmlns:a="http://schemas.openxmlformats.org/drawingml/2006/main">
            <a:pPr>
              <a:defRPr sz="31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par l’intelligence artificielle</a:t>
            </a:r>
          </a:p>
        </p:txBody>
      </p:sp>
      <p:sp>
        <p:nvSpPr>
          <p:cNvPr id="5" name="Text Candidats et recruteurs&#10;dans une même platefo">
            <a:extLst xmlns:a="http://schemas.openxmlformats.org/drawingml/2006/main">
              <a:ext uri="{FF2B5EF4-FFF2-40B4-BE49-F238E27FC236}">
                <a16:creationId xmlns:a16="http://schemas.microsoft.com/office/drawing/2014/main" id="{4AE4E788-4F2C-4099-8D55-4A6E6A4C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0075"/>
            <a:ext cx="485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Candidats et recruteurs</a:t>
            </a:r>
          </a:p>
          <a:p xmlns:a="http://schemas.openxmlformats.org/drawingml/2006/main">
            <a:pPr>
              <a:defRPr sz="21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dans une même plateforme</a:t>
            </a:r>
          </a:p>
        </p:txBody>
      </p:sp>
      <p:sp>
        <p:nvSpPr>
          <p:cNvPr id="6" name="Text Candidature au Label Startup&#10;Tunisie, octobre">
            <a:extLst xmlns:a="http://schemas.openxmlformats.org/drawingml/2006/main">
              <a:ext uri="{FF2B5EF4-FFF2-40B4-BE49-F238E27FC236}">
                <a16:creationId xmlns:a16="http://schemas.microsoft.com/office/drawing/2014/main" id="{CC10B9A3-C1C6-426D-B6DC-FC8582B4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0225"/>
            <a:ext cx="5334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Candidature au Label Startup</a:t>
            </a:r>
          </a:p>
          <a:p xmlns:a="http://schemas.openxmlformats.org/drawingml/2006/main">
            <a:pPr>
              <a:defRPr sz="16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Tunisie, octobre 2026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843C2-9914-469C-9848-2A499F93B8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4fabb4c1d4112"/>
          <a:stretch xmlns:a="http://schemas.openxmlformats.org/drawingml/2006/main"/>
        </p:blipFill>
        <p:spPr>
          <a:xfrm xmlns:a="http://schemas.openxmlformats.org/drawingml/2006/main">
            <a:off x="6229350" y="2280047"/>
            <a:ext cx="5372100" cy="302180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270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1C9FCD2F-F457-42AD-9810-C287BE14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e problème">
            <a:extLst xmlns:a="http://schemas.openxmlformats.org/drawingml/2006/main">
              <a:ext uri="{FF2B5EF4-FFF2-40B4-BE49-F238E27FC236}">
                <a16:creationId xmlns:a16="http://schemas.microsoft.com/office/drawing/2014/main" id="{66909E11-00B8-473E-867B-762A4F85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Le problème</a:t>
            </a:r>
          </a:p>
        </p:txBody>
      </p:sp>
      <p:sp>
        <p:nvSpPr>
          <p:cNvPr id="3" name="Text Un parcours encore dispersé entre plusieurs o">
            <a:extLst xmlns:a="http://schemas.openxmlformats.org/drawingml/2006/main">
              <a:ext uri="{FF2B5EF4-FFF2-40B4-BE49-F238E27FC236}">
                <a16:creationId xmlns:a16="http://schemas.microsoft.com/office/drawing/2014/main" id="{80074ABB-4DAB-4ED4-A0F6-A1D7B29E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Un parcours encore dispersé entre plusieurs outils.</a:t>
            </a:r>
          </a:p>
        </p:txBody>
      </p:sp>
      <p:sp>
        <p:nvSpPr>
          <p:cNvPr id="4" name="Text 02">
            <a:extLst xmlns:a="http://schemas.openxmlformats.org/drawingml/2006/main">
              <a:ext uri="{FF2B5EF4-FFF2-40B4-BE49-F238E27FC236}">
                <a16:creationId xmlns:a16="http://schemas.microsoft.com/office/drawing/2014/main" id="{2ACF313C-FB43-4A65-8B3C-3E809BC2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ext Pour les candidats">
            <a:extLst xmlns:a="http://schemas.openxmlformats.org/drawingml/2006/main">
              <a:ext uri="{FF2B5EF4-FFF2-40B4-BE49-F238E27FC236}">
                <a16:creationId xmlns:a16="http://schemas.microsoft.com/office/drawing/2014/main" id="{1C0DD578-2DBA-4ED3-9277-6330F536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Pour les candidats</a:t>
            </a:r>
          </a:p>
        </p:txBody>
      </p:sp>
      <p:sp>
        <p:nvSpPr>
          <p:cNvPr id="6" name="Text Préparer le CV, consulter les offres et suivr">
            <a:extLst xmlns:a="http://schemas.openxmlformats.org/drawingml/2006/main">
              <a:ext uri="{FF2B5EF4-FFF2-40B4-BE49-F238E27FC236}">
                <a16:creationId xmlns:a16="http://schemas.microsoft.com/office/drawing/2014/main" id="{EA99BE6C-3D65-4A8A-A4BA-F4A99791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Préparer le CV, consulter les offres et suivre les réponses demandent des démarches séparées.</a:t>
            </a:r>
          </a:p>
        </p:txBody>
      </p:sp>
      <p:sp>
        <p:nvSpPr>
          <p:cNvPr id="7" name="Text Pour les entreprises">
            <a:extLst xmlns:a="http://schemas.openxmlformats.org/drawingml/2006/main">
              <a:ext uri="{FF2B5EF4-FFF2-40B4-BE49-F238E27FC236}">
                <a16:creationId xmlns:a16="http://schemas.microsoft.com/office/drawing/2014/main" id="{5FBF7191-7A09-48A1-B338-D29837EA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765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Pour les entreprises</a:t>
            </a:r>
          </a:p>
        </p:txBody>
      </p:sp>
      <p:sp>
        <p:nvSpPr>
          <p:cNvPr id="8" name="Text Les dossiers, les échanges et les entretiens ">
            <a:extLst xmlns:a="http://schemas.openxmlformats.org/drawingml/2006/main">
              <a:ext uri="{FF2B5EF4-FFF2-40B4-BE49-F238E27FC236}">
                <a16:creationId xmlns:a16="http://schemas.microsoft.com/office/drawing/2014/main" id="{490ABAA9-95E9-4CD8-8FEE-2F1F5996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7182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Les dossiers, les échanges et les entretiens se répartissent entre plusieurs supports.</a:t>
            </a:r>
          </a:p>
        </p:txBody>
      </p:sp>
      <p:sp>
        <p:nvSpPr>
          <p:cNvPr id="9" name="Text Besoin commun : retrouver le contexte et la p">
            <a:extLst xmlns:a="http://schemas.openxmlformats.org/drawingml/2006/main">
              <a:ext uri="{FF2B5EF4-FFF2-40B4-BE49-F238E27FC236}">
                <a16:creationId xmlns:a16="http://schemas.microsoft.com/office/drawing/2014/main" id="{F19F3DBC-D305-49CE-BB37-264AF529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Besoin commun : retrouver le contexte et la prochaine action au même endroit.</a:t>
            </a:r>
          </a:p>
        </p:txBody>
      </p:sp>
    </p:spTree>
    <p:extLst>
      <p:ext uri="{BB962C8B-B14F-4D97-AF65-F5344CB8AC3E}">
        <p14:creationId xmlns:p14="http://schemas.microsoft.com/office/powerpoint/2010/main" val="1515779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7B8EA0BA-92BE-4E4B-BCB0-04E33720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Une plateforme, deux parcours">
            <a:extLst xmlns:a="http://schemas.openxmlformats.org/drawingml/2006/main">
              <a:ext uri="{FF2B5EF4-FFF2-40B4-BE49-F238E27FC236}">
                <a16:creationId xmlns:a16="http://schemas.microsoft.com/office/drawing/2014/main" id="{FF21E69A-27A6-4B62-9F2D-FA342F9B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Une plateforme, deux parcours</a:t>
            </a:r>
          </a:p>
        </p:txBody>
      </p:sp>
      <p:sp>
        <p:nvSpPr>
          <p:cNvPr id="3" name="Text EasyJob relie la préparation du candidat au s">
            <a:extLst xmlns:a="http://schemas.openxmlformats.org/drawingml/2006/main">
              <a:ext uri="{FF2B5EF4-FFF2-40B4-BE49-F238E27FC236}">
                <a16:creationId xmlns:a16="http://schemas.microsoft.com/office/drawing/2014/main" id="{2BA3B678-E8C0-46C0-9A3D-F5C91CAF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EasyJob relie la préparation du candidat au suivi du recrutement.</a:t>
            </a:r>
          </a:p>
        </p:txBody>
      </p:sp>
      <p:sp>
        <p:nvSpPr>
          <p:cNvPr id="4" name="Text 03">
            <a:extLst xmlns:a="http://schemas.openxmlformats.org/drawingml/2006/main">
              <a:ext uri="{FF2B5EF4-FFF2-40B4-BE49-F238E27FC236}">
                <a16:creationId xmlns:a16="http://schemas.microsoft.com/office/drawing/2014/main" id="{FB616855-90A1-4730-89B4-F24D0062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 CANDIDAT">
            <a:extLst xmlns:a="http://schemas.openxmlformats.org/drawingml/2006/main">
              <a:ext uri="{FF2B5EF4-FFF2-40B4-BE49-F238E27FC236}">
                <a16:creationId xmlns:a16="http://schemas.microsoft.com/office/drawing/2014/main" id="{E484D6ED-29AF-40E2-9169-E7DB61F3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CANDIDAT</a:t>
            </a:r>
          </a:p>
        </p:txBody>
      </p:sp>
      <p:sp>
        <p:nvSpPr>
          <p:cNvPr id="6" name="Text CV et profil&#10;Recherche d’offres&#10;Candidatures ">
            <a:extLst xmlns:a="http://schemas.openxmlformats.org/drawingml/2006/main">
              <a:ext uri="{FF2B5EF4-FFF2-40B4-BE49-F238E27FC236}">
                <a16:creationId xmlns:a16="http://schemas.microsoft.com/office/drawing/2014/main" id="{3F425D7A-3096-41B4-9F41-74E76197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490537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CV et profil</a:t>
            </a:r>
          </a:p>
          <a:p xmlns:a="http://schemas.openxmlformats.org/drawingml/2006/main">
            <a: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Recherche d’offres</a:t>
            </a:r>
          </a:p>
          <a:p xmlns:a="http://schemas.openxmlformats.org/drawingml/2006/main">
            <a: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Candidatures et préparation</a:t>
            </a:r>
          </a:p>
        </p:txBody>
      </p:sp>
      <p:sp>
        <p:nvSpPr>
          <p:cNvPr id="7" name="Text RECRUTEUR">
            <a:extLst xmlns:a="http://schemas.openxmlformats.org/drawingml/2006/main">
              <a:ext uri="{FF2B5EF4-FFF2-40B4-BE49-F238E27FC236}">
                <a16:creationId xmlns:a16="http://schemas.microsoft.com/office/drawing/2014/main" id="{AE7EDC17-3C30-4696-8805-86FE75DF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03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9CE2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CE2C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CE2CE"/>
                </a:solidFill>
                <a:latin typeface="Arial"/>
                <a:ea typeface="Arial"/>
                <a:cs typeface="Arial"/>
              </a:rPr>
              <a:t>RECRUTEUR</a:t>
            </a:r>
          </a:p>
        </p:txBody>
      </p:sp>
      <p:sp>
        <p:nvSpPr>
          <p:cNvPr id="8" name="Text Publication des offres&#10;Analyse des dossiers&#10;S">
            <a:extLst xmlns:a="http://schemas.openxmlformats.org/drawingml/2006/main">
              <a:ext uri="{FF2B5EF4-FFF2-40B4-BE49-F238E27FC236}">
                <a16:creationId xmlns:a16="http://schemas.microsoft.com/office/drawing/2014/main" id="{97D7E493-1BD7-48D7-9E9D-3D45F47A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19450"/>
            <a:ext cx="48577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Publication des offres</a:t>
            </a:r>
          </a:p>
          <a:p xmlns:a="http://schemas.openxmlformats.org/drawingml/2006/main">
            <a: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Analyse des dossiers</a:t>
            </a:r>
          </a:p>
          <a:p xmlns:a="http://schemas.openxmlformats.org/drawingml/2006/main">
            <a:pPr>
              <a:defRPr sz="25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Suivi et entretiens</a:t>
            </a:r>
          </a:p>
        </p:txBody>
      </p:sp>
      <p:sp>
        <p:nvSpPr>
          <p:cNvPr id="9" name="Text Interface disponible en français, anglais et ">
            <a:extLst xmlns:a="http://schemas.openxmlformats.org/drawingml/2006/main">
              <a:ext uri="{FF2B5EF4-FFF2-40B4-BE49-F238E27FC236}">
                <a16:creationId xmlns:a16="http://schemas.microsoft.com/office/drawing/2014/main" id="{74041631-B805-410E-9855-1F3F9677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Interface disponible en français, anglais et arabe.</a:t>
            </a:r>
          </a:p>
        </p:txBody>
      </p:sp>
    </p:spTree>
    <p:extLst>
      <p:ext uri="{BB962C8B-B14F-4D97-AF65-F5344CB8AC3E}">
        <p14:creationId xmlns:p14="http://schemas.microsoft.com/office/powerpoint/2010/main" val="15101526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61A159B4-6B36-4F36-8D1E-B78FEDF4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e parcours candidat">
            <a:extLst xmlns:a="http://schemas.openxmlformats.org/drawingml/2006/main">
              <a:ext uri="{FF2B5EF4-FFF2-40B4-BE49-F238E27FC236}">
                <a16:creationId xmlns:a16="http://schemas.microsoft.com/office/drawing/2014/main" id="{D0F20A57-8C1D-488D-ABDC-8DF95802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Le parcours candidat</a:t>
            </a:r>
          </a:p>
        </p:txBody>
      </p:sp>
      <p:sp>
        <p:nvSpPr>
          <p:cNvPr id="3" name="Text 04">
            <a:extLst xmlns:a="http://schemas.openxmlformats.org/drawingml/2006/main">
              <a:ext uri="{FF2B5EF4-FFF2-40B4-BE49-F238E27FC236}">
                <a16:creationId xmlns:a16="http://schemas.microsoft.com/office/drawing/2014/main" id="{882AFA1C-E142-4420-99B9-D34C3D2D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 Trouver une offre">
            <a:extLst xmlns:a="http://schemas.openxmlformats.org/drawingml/2006/main">
              <a:ext uri="{FF2B5EF4-FFF2-40B4-BE49-F238E27FC236}">
                <a16:creationId xmlns:a16="http://schemas.microsoft.com/office/drawing/2014/main" id="{00C68727-F17E-4E52-97BD-3F17E14D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Trouver une offre</a:t>
            </a:r>
          </a:p>
        </p:txBody>
      </p:sp>
      <p:sp>
        <p:nvSpPr>
          <p:cNvPr id="5" name="Text Rechercher un poste et voir les correspondanc">
            <a:extLst xmlns:a="http://schemas.openxmlformats.org/drawingml/2006/main">
              <a:ext uri="{FF2B5EF4-FFF2-40B4-BE49-F238E27FC236}">
                <a16:creationId xmlns:a16="http://schemas.microsoft.com/office/drawing/2014/main" id="{F41C1908-616A-4914-AB09-23BE17D9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124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Rechercher un poste et voir les correspondances avec le profil.</a:t>
            </a:r>
          </a:p>
        </p:txBody>
      </p:sp>
      <p:sp>
        <p:nvSpPr>
          <p:cNvPr id="6" name="Text Garder le suivi">
            <a:extLst xmlns:a="http://schemas.openxmlformats.org/drawingml/2006/main">
              <a:ext uri="{FF2B5EF4-FFF2-40B4-BE49-F238E27FC236}">
                <a16:creationId xmlns:a16="http://schemas.microsoft.com/office/drawing/2014/main" id="{C3BE2CD9-F278-4A4C-89E7-443D91CF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Garder le suivi</a:t>
            </a:r>
          </a:p>
        </p:txBody>
      </p:sp>
      <p:sp>
        <p:nvSpPr>
          <p:cNvPr id="7" name="Text Retrouver les candidatures et préparer les en">
            <a:extLst xmlns:a="http://schemas.openxmlformats.org/drawingml/2006/main">
              <a:ext uri="{FF2B5EF4-FFF2-40B4-BE49-F238E27FC236}">
                <a16:creationId xmlns:a16="http://schemas.microsoft.com/office/drawing/2014/main" id="{CBC633D3-0CD5-4EE6-8A31-1199A897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3124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Retrouver les candidatures et préparer les entretiens.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23770-348E-4B69-A8A7-A69562CE06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f9563ba3844b7"/>
          <a:stretch xmlns:a="http://schemas.openxmlformats.org/drawingml/2006/main"/>
        </p:blipFill>
        <p:spPr>
          <a:xfrm xmlns:a="http://schemas.openxmlformats.org/drawingml/2006/main">
            <a:off x="4483100" y="1990725"/>
            <a:ext cx="6807200" cy="3829050"/>
          </a:xfrm>
          <a:prstGeom xmlns:a="http://schemas.openxmlformats.org/drawingml/2006/main" prst="rect">
            <a:avLst/>
          </a:prstGeom>
        </p:spPr>
      </p:pic>
      <p:sp>
        <p:nvSpPr>
          <p:cNvPr id="9" name="Text Capture du produit. Les comptes et les offres">
            <a:extLst xmlns:a="http://schemas.openxmlformats.org/drawingml/2006/main">
              <a:ext uri="{FF2B5EF4-FFF2-40B4-BE49-F238E27FC236}">
                <a16:creationId xmlns:a16="http://schemas.microsoft.com/office/drawing/2014/main" id="{A84DB94B-D82B-44F4-98FE-7B086AA7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Capture du produit. Les comptes et les offres affichés servent à la démonstration.</a:t>
            </a:r>
          </a:p>
        </p:txBody>
      </p:sp>
    </p:spTree>
    <p:extLst>
      <p:ext uri="{BB962C8B-B14F-4D97-AF65-F5344CB8AC3E}">
        <p14:creationId xmlns:p14="http://schemas.microsoft.com/office/powerpoint/2010/main" val="721046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02C32582-51BB-4EF8-9407-6E628E8B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’espace recruteur">
            <a:extLst xmlns:a="http://schemas.openxmlformats.org/drawingml/2006/main">
              <a:ext uri="{FF2B5EF4-FFF2-40B4-BE49-F238E27FC236}">
                <a16:creationId xmlns:a16="http://schemas.microsoft.com/office/drawing/2014/main" id="{79544F5A-99B4-4E4E-A4EF-57DD9B58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L’espace recruteur</a:t>
            </a:r>
          </a:p>
        </p:txBody>
      </p:sp>
      <p:sp>
        <p:nvSpPr>
          <p:cNvPr id="3" name="Text 05">
            <a:extLst xmlns:a="http://schemas.openxmlformats.org/drawingml/2006/main">
              <a:ext uri="{FF2B5EF4-FFF2-40B4-BE49-F238E27FC236}">
                <a16:creationId xmlns:a16="http://schemas.microsoft.com/office/drawing/2014/main" id="{BEFCAE2E-0327-4711-A69E-90631C4B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 Organiser le travail">
            <a:extLst xmlns:a="http://schemas.openxmlformats.org/drawingml/2006/main">
              <a:ext uri="{FF2B5EF4-FFF2-40B4-BE49-F238E27FC236}">
                <a16:creationId xmlns:a16="http://schemas.microsoft.com/office/drawing/2014/main" id="{13277FFE-C070-4C06-8634-FF922300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Organiser le travail</a:t>
            </a:r>
          </a:p>
        </p:txBody>
      </p:sp>
      <p:sp>
        <p:nvSpPr>
          <p:cNvPr id="5" name="Text Publier des offres et retrouver les candidatu">
            <a:extLst xmlns:a="http://schemas.openxmlformats.org/drawingml/2006/main">
              <a:ext uri="{FF2B5EF4-FFF2-40B4-BE49-F238E27FC236}">
                <a16:creationId xmlns:a16="http://schemas.microsoft.com/office/drawing/2014/main" id="{856132F0-80F4-4940-BB38-899832F5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124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Publier des offres et retrouver les candidatures dans un espace dédié.</a:t>
            </a:r>
          </a:p>
        </p:txBody>
      </p:sp>
      <p:sp>
        <p:nvSpPr>
          <p:cNvPr id="6" name="Text Suivre les dossiers">
            <a:extLst xmlns:a="http://schemas.openxmlformats.org/drawingml/2006/main">
              <a:ext uri="{FF2B5EF4-FFF2-40B4-BE49-F238E27FC236}">
                <a16:creationId xmlns:a16="http://schemas.microsoft.com/office/drawing/2014/main" id="{EDF40307-5C0E-48D2-A79A-F46AFB98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Suivre les dossiers</a:t>
            </a:r>
          </a:p>
        </p:txBody>
      </p:sp>
      <p:sp>
        <p:nvSpPr>
          <p:cNvPr id="7" name="Text Consulter les profils, suivre les étapes et p">
            <a:extLst xmlns:a="http://schemas.openxmlformats.org/drawingml/2006/main">
              <a:ext uri="{FF2B5EF4-FFF2-40B4-BE49-F238E27FC236}">
                <a16:creationId xmlns:a16="http://schemas.microsoft.com/office/drawing/2014/main" id="{72F663B9-5BBF-48B9-8C23-5809C256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3124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Consulter les profils, suivre les étapes et planifier les entretiens.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A3D0A-B61B-4712-932C-4491A76882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05a2fa9f64629"/>
          <a:stretch xmlns:a="http://schemas.openxmlformats.org/drawingml/2006/main"/>
        </p:blipFill>
        <p:spPr>
          <a:xfrm xmlns:a="http://schemas.openxmlformats.org/drawingml/2006/main">
            <a:off x="4483100" y="1990725"/>
            <a:ext cx="6807200" cy="3829050"/>
          </a:xfrm>
          <a:prstGeom xmlns:a="http://schemas.openxmlformats.org/drawingml/2006/main" prst="rect">
            <a:avLst/>
          </a:prstGeom>
        </p:spPr>
      </p:pic>
      <p:sp>
        <p:nvSpPr>
          <p:cNvPr id="9" name="Text Capture du produit avec des données de démons">
            <a:extLst xmlns:a="http://schemas.openxmlformats.org/drawingml/2006/main">
              <a:ext uri="{FF2B5EF4-FFF2-40B4-BE49-F238E27FC236}">
                <a16:creationId xmlns:a16="http://schemas.microsoft.com/office/drawing/2014/main" id="{AEA6D168-15B8-469E-890D-9440C4D2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Capture du produit avec des données de démonstration.</a:t>
            </a:r>
          </a:p>
        </p:txBody>
      </p:sp>
    </p:spTree>
    <p:extLst>
      <p:ext uri="{BB962C8B-B14F-4D97-AF65-F5344CB8AC3E}">
        <p14:creationId xmlns:p14="http://schemas.microsoft.com/office/powerpoint/2010/main" val="7707846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FE279A9B-8063-4471-AAE3-B4DB23D1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Un matching explicable">
            <a:extLst xmlns:a="http://schemas.openxmlformats.org/drawingml/2006/main">
              <a:ext uri="{FF2B5EF4-FFF2-40B4-BE49-F238E27FC236}">
                <a16:creationId xmlns:a16="http://schemas.microsoft.com/office/drawing/2014/main" id="{88A13E88-3FAE-48EF-973C-FE139EFC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Un matching explicable</a:t>
            </a:r>
          </a:p>
        </p:txBody>
      </p:sp>
      <p:sp>
        <p:nvSpPr>
          <p:cNvPr id="3" name="Text 06">
            <a:extLst xmlns:a="http://schemas.openxmlformats.org/drawingml/2006/main">
              <a:ext uri="{FF2B5EF4-FFF2-40B4-BE49-F238E27FC236}">
                <a16:creationId xmlns:a16="http://schemas.microsoft.com/office/drawing/2014/main" id="{CB9D0E96-852E-44FE-AB8C-6D4D48BF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 Lire la correspondance">
            <a:extLst xmlns:a="http://schemas.openxmlformats.org/drawingml/2006/main">
              <a:ext uri="{FF2B5EF4-FFF2-40B4-BE49-F238E27FC236}">
                <a16:creationId xmlns:a16="http://schemas.microsoft.com/office/drawing/2014/main" id="{B7DBC21A-9905-4735-91DC-9EB02388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Lire la correspondance</a:t>
            </a:r>
          </a:p>
        </p:txBody>
      </p:sp>
      <p:sp>
        <p:nvSpPr>
          <p:cNvPr id="5" name="Text Une analyse présente les compétences communes">
            <a:extLst xmlns:a="http://schemas.openxmlformats.org/drawingml/2006/main">
              <a:ext uri="{FF2B5EF4-FFF2-40B4-BE49-F238E27FC236}">
                <a16:creationId xmlns:a16="http://schemas.microsoft.com/office/drawing/2014/main" id="{09FF45EE-9228-459F-B688-52B69D95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323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Une analyse présente les compétences communes et les points à approfondir.</a:t>
            </a:r>
          </a:p>
        </p:txBody>
      </p:sp>
      <p:sp>
        <p:nvSpPr>
          <p:cNvPr id="6" name="Text La décision humaine">
            <a:extLst xmlns:a="http://schemas.openxmlformats.org/drawingml/2006/main">
              <a:ext uri="{FF2B5EF4-FFF2-40B4-BE49-F238E27FC236}">
                <a16:creationId xmlns:a16="http://schemas.microsoft.com/office/drawing/2014/main" id="{70BBDF35-81DC-4FA1-AD34-7A96717B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La décision humaine</a:t>
            </a:r>
          </a:p>
        </p:txBody>
      </p:sp>
      <p:sp>
        <p:nvSpPr>
          <p:cNvPr id="7" name="Text L’IA accompagne l’analyse. Le recruteur décid">
            <a:extLst xmlns:a="http://schemas.openxmlformats.org/drawingml/2006/main">
              <a:ext uri="{FF2B5EF4-FFF2-40B4-BE49-F238E27FC236}">
                <a16:creationId xmlns:a16="http://schemas.microsoft.com/office/drawing/2014/main" id="{4915E400-0293-46B3-855A-7ED24490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323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L’IA accompagne l’analyse. Le recruteur décide de la suite.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F5627-0962-4952-9660-BF7FF2E4D0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99eb1d4844d3c"/>
          <a:stretch xmlns:a="http://schemas.openxmlformats.org/drawingml/2006/main"/>
        </p:blipFill>
        <p:spPr>
          <a:xfrm xmlns:a="http://schemas.openxmlformats.org/drawingml/2006/main">
            <a:off x="4667250" y="2095500"/>
            <a:ext cx="6553200" cy="3686175"/>
          </a:xfrm>
          <a:prstGeom xmlns:a="http://schemas.openxmlformats.org/drawingml/2006/main" prst="rect">
            <a:avLst/>
          </a:prstGeom>
        </p:spPr>
      </p:pic>
      <p:sp>
        <p:nvSpPr>
          <p:cNvPr id="9" name="Text Les scores visibles illustrent une démonstrat">
            <a:extLst xmlns:a="http://schemas.openxmlformats.org/drawingml/2006/main">
              <a:ext uri="{FF2B5EF4-FFF2-40B4-BE49-F238E27FC236}">
                <a16:creationId xmlns:a16="http://schemas.microsoft.com/office/drawing/2014/main" id="{B22152B4-63D7-45B4-B099-5C88AFEC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Les scores visibles illustrent une démonstration, pas une mesure de performance du modèle.</a:t>
            </a:r>
          </a:p>
        </p:txBody>
      </p:sp>
    </p:spTree>
    <p:extLst>
      <p:ext uri="{BB962C8B-B14F-4D97-AF65-F5344CB8AC3E}">
        <p14:creationId xmlns:p14="http://schemas.microsoft.com/office/powerpoint/2010/main" val="16443130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18486E20-FAA9-4B57-BC54-B4CB46BA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e marché de départ : la Tunisie">
            <a:extLst xmlns:a="http://schemas.openxmlformats.org/drawingml/2006/main">
              <a:ext uri="{FF2B5EF4-FFF2-40B4-BE49-F238E27FC236}">
                <a16:creationId xmlns:a16="http://schemas.microsoft.com/office/drawing/2014/main" id="{D86CA487-2C41-4FEE-AD44-1C059D65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Le marché de départ : la Tunisie</a:t>
            </a:r>
          </a:p>
        </p:txBody>
      </p:sp>
      <p:sp>
        <p:nvSpPr>
          <p:cNvPr id="3" name="Text 07">
            <a:extLst xmlns:a="http://schemas.openxmlformats.org/drawingml/2006/main">
              <a:ext uri="{FF2B5EF4-FFF2-40B4-BE49-F238E27FC236}">
                <a16:creationId xmlns:a16="http://schemas.microsoft.com/office/drawing/2014/main" id="{F920CD69-1CB5-43FC-9FF2-03BA30AF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 Startups et PME">
            <a:extLst xmlns:a="http://schemas.openxmlformats.org/drawingml/2006/main">
              <a:ext uri="{FF2B5EF4-FFF2-40B4-BE49-F238E27FC236}">
                <a16:creationId xmlns:a16="http://schemas.microsoft.com/office/drawing/2014/main" id="{7AF2CA98-FCF8-422D-98A7-29F85409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Startups et PME</a:t>
            </a:r>
          </a:p>
        </p:txBody>
      </p:sp>
      <p:sp>
        <p:nvSpPr>
          <p:cNvPr id="5" name="Text Des entreprises qui souhaitent structurer leu">
            <a:extLst xmlns:a="http://schemas.openxmlformats.org/drawingml/2006/main">
              <a:ext uri="{FF2B5EF4-FFF2-40B4-BE49-F238E27FC236}">
                <a16:creationId xmlns:a16="http://schemas.microsoft.com/office/drawing/2014/main" id="{6F712538-C919-408F-B449-1E320D06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8196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Des entreprises qui souhaitent structurer leurs recrutements avec un outil accessible.</a:t>
            </a:r>
          </a:p>
        </p:txBody>
      </p:sp>
      <p:sp>
        <p:nvSpPr>
          <p:cNvPr id="6" name="Text Candidats">
            <a:extLst xmlns:a="http://schemas.openxmlformats.org/drawingml/2006/main">
              <a:ext uri="{FF2B5EF4-FFF2-40B4-BE49-F238E27FC236}">
                <a16:creationId xmlns:a16="http://schemas.microsoft.com/office/drawing/2014/main" id="{2BAAB143-9A6B-4625-9929-786670F7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9CE2C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9CE2C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CE2CE"/>
                </a:solidFill>
                <a:latin typeface="Arial"/>
                <a:ea typeface="Arial"/>
                <a:cs typeface="Arial"/>
              </a:rPr>
              <a:t>Candidats</a:t>
            </a:r>
          </a:p>
        </p:txBody>
      </p:sp>
      <p:sp>
        <p:nvSpPr>
          <p:cNvPr id="7" name="Text Des personnes qui recherchent un emploi et ve">
            <a:extLst xmlns:a="http://schemas.openxmlformats.org/drawingml/2006/main">
              <a:ext uri="{FF2B5EF4-FFF2-40B4-BE49-F238E27FC236}">
                <a16:creationId xmlns:a16="http://schemas.microsoft.com/office/drawing/2014/main" id="{FB57ABBA-AB1B-44DC-B01A-E8B67DFF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76600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Des personnes qui recherchent un emploi et veulent mieux préparer et suivre leurs démarches.</a:t>
            </a:r>
          </a:p>
        </p:txBody>
      </p:sp>
      <p:sp>
        <p:nvSpPr>
          <p:cNvPr id="8" name="Text Expansion envisagée au Maghreb après validati">
            <a:extLst xmlns:a="http://schemas.openxmlformats.org/drawingml/2006/main">
              <a:ext uri="{FF2B5EF4-FFF2-40B4-BE49-F238E27FC236}">
                <a16:creationId xmlns:a16="http://schemas.microsoft.com/office/drawing/2014/main" id="{BBB8D655-1266-4999-9D24-91152077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Expansion envisagée au Maghreb après validation des usages en Tunisie.</a:t>
            </a:r>
          </a:p>
        </p:txBody>
      </p:sp>
    </p:spTree>
    <p:extLst>
      <p:ext uri="{BB962C8B-B14F-4D97-AF65-F5344CB8AC3E}">
        <p14:creationId xmlns:p14="http://schemas.microsoft.com/office/powerpoint/2010/main" val="1886665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F0D81859-BAD8-4E40-B663-740B6B97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e positionnement concurrentiel">
            <a:extLst xmlns:a="http://schemas.openxmlformats.org/drawingml/2006/main">
              <a:ext uri="{FF2B5EF4-FFF2-40B4-BE49-F238E27FC236}">
                <a16:creationId xmlns:a16="http://schemas.microsoft.com/office/drawing/2014/main" id="{E06DBA56-E8D7-473C-BB72-421148B0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Le positionnement concurrentiel</a:t>
            </a:r>
          </a:p>
        </p:txBody>
      </p:sp>
      <p:sp>
        <p:nvSpPr>
          <p:cNvPr id="3" name="Text 08">
            <a:extLst xmlns:a="http://schemas.openxmlformats.org/drawingml/2006/main">
              <a:ext uri="{FF2B5EF4-FFF2-40B4-BE49-F238E27FC236}">
                <a16:creationId xmlns:a16="http://schemas.microsoft.com/office/drawing/2014/main" id="{FE5A5EB9-F1DE-4AB2-A683-298C0BEE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 Des acteurs déjà présents">
            <a:extLst xmlns:a="http://schemas.openxmlformats.org/drawingml/2006/main">
              <a:ext uri="{FF2B5EF4-FFF2-40B4-BE49-F238E27FC236}">
                <a16:creationId xmlns:a16="http://schemas.microsoft.com/office/drawing/2014/main" id="{C4CCB003-7EED-4E89-84D3-2C90D6B6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Des acteurs déjà présents</a:t>
            </a:r>
          </a:p>
        </p:txBody>
      </p:sp>
      <p:sp>
        <p:nvSpPr>
          <p:cNvPr id="5" name="Text Keejob et Tanitjobs&#10;Offres d’emploi et servic">
            <a:extLst xmlns:a="http://schemas.openxmlformats.org/drawingml/2006/main">
              <a:ext uri="{FF2B5EF4-FFF2-40B4-BE49-F238E27FC236}">
                <a16:creationId xmlns:a16="http://schemas.microsoft.com/office/drawing/2014/main" id="{2DBF0BCB-4044-4654-AC03-2DCE10EF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Keejob et Tanitjobs</a:t>
            </a:r>
          </a:p>
          <a:p xmlns:a="http://schemas.openxmlformats.org/drawingml/2006/main">
            <a: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Offres d’emploi et services aux recruteurs.</a:t>
            </a:r>
          </a:p>
        </p:txBody>
      </p:sp>
      <p:sp>
        <p:nvSpPr>
          <p:cNvPr id="6" name="Text LinkedIn Recruiter&#10;Recherche de profils et pr">
            <a:extLst xmlns:a="http://schemas.openxmlformats.org/drawingml/2006/main">
              <a:ext uri="{FF2B5EF4-FFF2-40B4-BE49-F238E27FC236}">
                <a16:creationId xmlns:a16="http://schemas.microsoft.com/office/drawing/2014/main" id="{5321E9E5-0211-4882-8E32-DB8385B4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5334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LinkedIn Recruiter</a:t>
            </a:r>
          </a:p>
          <a:p xmlns:a="http://schemas.openxmlformats.org/drawingml/2006/main">
            <a: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Recherche de profils et prise de contact.</a:t>
            </a:r>
          </a:p>
        </p:txBody>
      </p:sp>
      <p:sp>
        <p:nvSpPr>
          <p:cNvPr id="7" name="Text L’angle EasyJob">
            <a:extLst xmlns:a="http://schemas.openxmlformats.org/drawingml/2006/main">
              <a:ext uri="{FF2B5EF4-FFF2-40B4-BE49-F238E27FC236}">
                <a16:creationId xmlns:a16="http://schemas.microsoft.com/office/drawing/2014/main" id="{08C1C380-4488-471B-81B1-3318014F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L’angle EasyJob</a:t>
            </a:r>
          </a:p>
        </p:txBody>
      </p:sp>
      <p:sp>
        <p:nvSpPr>
          <p:cNvPr id="8" name="Text Associer l’accompagnement du candidat, le sui">
            <a:extLst xmlns:a="http://schemas.openxmlformats.org/drawingml/2006/main">
              <a:ext uri="{FF2B5EF4-FFF2-40B4-BE49-F238E27FC236}">
                <a16:creationId xmlns:a16="http://schemas.microsoft.com/office/drawing/2014/main" id="{6AFD806C-4626-4C86-9CBE-BD7E73D9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38475"/>
            <a:ext cx="4543425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Associer l’accompagnement du candidat, le suivi du recrutement et l’analyse explicable dans une expérience multilingue.</a:t>
            </a:r>
          </a:p>
        </p:txBody>
      </p:sp>
      <p:sp>
        <p:nvSpPr>
          <p:cNvPr id="9" name="Text Positionnement visé. La différenciation devra">
            <a:extLst xmlns:a="http://schemas.openxmlformats.org/drawingml/2006/main">
              <a:ext uri="{FF2B5EF4-FFF2-40B4-BE49-F238E27FC236}">
                <a16:creationId xmlns:a16="http://schemas.microsoft.com/office/drawing/2014/main" id="{0B5A95D3-6A6C-4FA8-8E31-C03FE019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Positionnement visé. La différenciation devra se confirmer auprès des utilisateurs.</a:t>
            </a:r>
          </a:p>
        </p:txBody>
      </p:sp>
      <p:sp>
        <p:nvSpPr>
          <p:cNvPr id="10" name="Text Sources : keejob.com/recruiter/ ; tanitjobs.c">
            <a:extLst xmlns:a="http://schemas.openxmlformats.org/drawingml/2006/main">
              <a:ext uri="{FF2B5EF4-FFF2-40B4-BE49-F238E27FC236}">
                <a16:creationId xmlns:a16="http://schemas.microsoft.com/office/drawing/2014/main" id="{5D53D15F-60E4-4B7B-96DE-F9EBA856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Sources : keejob.com/recruiter/ ; tanitjobs.com ; LinkedIn Talent Solutions</a:t>
            </a:r>
          </a:p>
        </p:txBody>
      </p:sp>
    </p:spTree>
    <p:extLst>
      <p:ext uri="{BB962C8B-B14F-4D97-AF65-F5344CB8AC3E}">
        <p14:creationId xmlns:p14="http://schemas.microsoft.com/office/powerpoint/2010/main" val="2477499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57881278-526E-4D8B-9BD2-7F7B1BEC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e modèle économique envisagé">
            <a:extLst xmlns:a="http://schemas.openxmlformats.org/drawingml/2006/main">
              <a:ext uri="{FF2B5EF4-FFF2-40B4-BE49-F238E27FC236}">
                <a16:creationId xmlns:a16="http://schemas.microsoft.com/office/drawing/2014/main" id="{01040E5D-E01D-49C2-9856-CC7B8710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Le modèle économique envisagé</a:t>
            </a:r>
          </a:p>
        </p:txBody>
      </p:sp>
      <p:sp>
        <p:nvSpPr>
          <p:cNvPr id="3" name="Text Un accès gratuit aux fonctions essentielles e">
            <a:extLst xmlns:a="http://schemas.openxmlformats.org/drawingml/2006/main">
              <a:ext uri="{FF2B5EF4-FFF2-40B4-BE49-F238E27FC236}">
                <a16:creationId xmlns:a16="http://schemas.microsoft.com/office/drawing/2014/main" id="{E5FFC029-C9BA-4525-A15F-3187018D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Un accès gratuit aux fonctions essentielles et des abonnements avancés.</a:t>
            </a:r>
          </a:p>
        </p:txBody>
      </p:sp>
      <p:sp>
        <p:nvSpPr>
          <p:cNvPr id="4" name="Text 09">
            <a:extLst xmlns:a="http://schemas.openxmlformats.org/drawingml/2006/main">
              <a:ext uri="{FF2B5EF4-FFF2-40B4-BE49-F238E27FC236}">
                <a16:creationId xmlns:a16="http://schemas.microsoft.com/office/drawing/2014/main" id="{678ACFC3-5356-4F75-9D88-E2CCCF6C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 Candidats">
            <a:extLst xmlns:a="http://schemas.openxmlformats.org/drawingml/2006/main">
              <a:ext uri="{FF2B5EF4-FFF2-40B4-BE49-F238E27FC236}">
                <a16:creationId xmlns:a16="http://schemas.microsoft.com/office/drawing/2014/main" id="{F3A6393E-0EDC-40C4-92C1-30AA70F3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4829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Candidats</a:t>
            </a:r>
          </a:p>
        </p:txBody>
      </p:sp>
      <p:sp>
        <p:nvSpPr>
          <p:cNvPr id="6" name="Text Un abonnement pour les fonctions d’accompagne">
            <a:extLst xmlns:a="http://schemas.openxmlformats.org/drawingml/2006/main">
              <a:ext uri="{FF2B5EF4-FFF2-40B4-BE49-F238E27FC236}">
                <a16:creationId xmlns:a16="http://schemas.microsoft.com/office/drawing/2014/main" id="{EAA7407B-0F83-4143-9566-F1000595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8291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Un abonnement pour les fonctions d’accompagnement et de préparation avancées.</a:t>
            </a:r>
          </a:p>
        </p:txBody>
      </p:sp>
      <p:sp>
        <p:nvSpPr>
          <p:cNvPr id="7" name="Text Entreprises">
            <a:extLst xmlns:a="http://schemas.openxmlformats.org/drawingml/2006/main">
              <a:ext uri="{FF2B5EF4-FFF2-40B4-BE49-F238E27FC236}">
                <a16:creationId xmlns:a16="http://schemas.microsoft.com/office/drawing/2014/main" id="{8C2F96F9-46FA-43B1-8013-8321FEDF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Entreprises</a:t>
            </a:r>
          </a:p>
        </p:txBody>
      </p:sp>
      <p:sp>
        <p:nvSpPr>
          <p:cNvPr id="8" name="Text Un abonnement pour les besoins de recrutement">
            <a:extLst xmlns:a="http://schemas.openxmlformats.org/drawingml/2006/main">
              <a:ext uri="{FF2B5EF4-FFF2-40B4-BE49-F238E27FC236}">
                <a16:creationId xmlns:a16="http://schemas.microsoft.com/office/drawing/2014/main" id="{9C770DF5-3F0C-415E-9479-1B5AFD9B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Un abonnement pour les besoins de recrutement et de gestion plus étendus.</a:t>
            </a:r>
          </a:p>
        </p:txBody>
      </p:sp>
      <p:sp>
        <p:nvSpPr>
          <p:cNvPr id="9" name="Text La prochaine validation : identifier les usag">
            <a:extLst xmlns:a="http://schemas.openxmlformats.org/drawingml/2006/main">
              <a:ext uri="{FF2B5EF4-FFF2-40B4-BE49-F238E27FC236}">
                <a16:creationId xmlns:a16="http://schemas.microsoft.com/office/drawing/2014/main" id="{D8329EC5-DDDF-4033-9CD8-2407725F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La prochaine validation : identifier les usages récurrents et la disposition à payer.</a:t>
            </a:r>
          </a:p>
        </p:txBody>
      </p:sp>
    </p:spTree>
    <p:extLst>
      <p:ext uri="{BB962C8B-B14F-4D97-AF65-F5344CB8AC3E}">
        <p14:creationId xmlns:p14="http://schemas.microsoft.com/office/powerpoint/2010/main" val="1065614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CBCBA680-3880-45B2-8B09-E2E0FB44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’acquisition des premiers utilisateurs">
            <a:extLst xmlns:a="http://schemas.openxmlformats.org/drawingml/2006/main">
              <a:ext uri="{FF2B5EF4-FFF2-40B4-BE49-F238E27FC236}">
                <a16:creationId xmlns:a16="http://schemas.microsoft.com/office/drawing/2014/main" id="{7FA4DA30-8038-49E7-BDD8-89BA36FF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L’acquisition des premiers utilisateurs</a:t>
            </a:r>
          </a:p>
        </p:txBody>
      </p:sp>
      <p:sp>
        <p:nvSpPr>
          <p:cNvPr id="3" name="Text Actions envisagées pour lancer les premiers t">
            <a:extLst xmlns:a="http://schemas.openxmlformats.org/drawingml/2006/main">
              <a:ext uri="{FF2B5EF4-FFF2-40B4-BE49-F238E27FC236}">
                <a16:creationId xmlns:a16="http://schemas.microsoft.com/office/drawing/2014/main" id="{33960999-C6EA-4EB3-9BBF-E7E07428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Actions envisagées pour lancer les premiers tests en Tunisie.</a:t>
            </a:r>
          </a:p>
        </p:txBody>
      </p:sp>
      <p:sp>
        <p:nvSpPr>
          <p:cNvPr id="4" name="Text 10">
            <a:extLst xmlns:a="http://schemas.openxmlformats.org/drawingml/2006/main">
              <a:ext uri="{FF2B5EF4-FFF2-40B4-BE49-F238E27FC236}">
                <a16:creationId xmlns:a16="http://schemas.microsoft.com/office/drawing/2014/main" id="{F32AA40B-42B2-4950-A645-B9DD3ADB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ext Entreprises pilotes">
            <a:extLst xmlns:a="http://schemas.openxmlformats.org/drawingml/2006/main">
              <a:ext uri="{FF2B5EF4-FFF2-40B4-BE49-F238E27FC236}">
                <a16:creationId xmlns:a16="http://schemas.microsoft.com/office/drawing/2014/main" id="{F751DE59-564F-44B6-854D-BE0C2B19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Entreprises pilotes</a:t>
            </a:r>
          </a:p>
        </p:txBody>
      </p:sp>
      <p:sp>
        <p:nvSpPr>
          <p:cNvPr id="6" name="Text Prospection directe de startups et PME. Démon">
            <a:extLst xmlns:a="http://schemas.openxmlformats.org/drawingml/2006/main">
              <a:ext uri="{FF2B5EF4-FFF2-40B4-BE49-F238E27FC236}">
                <a16:creationId xmlns:a16="http://schemas.microsoft.com/office/drawing/2014/main" id="{D32850ED-234C-485A-A1F6-3DD4C6AB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Prospection directe de startups et PME. Démonstrations centrées sur un recrutement concret.</a:t>
            </a:r>
          </a:p>
        </p:txBody>
      </p:sp>
      <p:sp>
        <p:nvSpPr>
          <p:cNvPr id="7" name="Text Communautés de candidats">
            <a:extLst xmlns:a="http://schemas.openxmlformats.org/drawingml/2006/main">
              <a:ext uri="{FF2B5EF4-FFF2-40B4-BE49-F238E27FC236}">
                <a16:creationId xmlns:a16="http://schemas.microsoft.com/office/drawing/2014/main" id="{9CA5B0B7-A849-4F2D-B758-5E8B3DB7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14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Communautés de candidats</a:t>
            </a:r>
          </a:p>
        </p:txBody>
      </p:sp>
      <p:sp>
        <p:nvSpPr>
          <p:cNvPr id="8" name="Text Prise de contact avec des communautés étudian">
            <a:extLst xmlns:a="http://schemas.openxmlformats.org/drawingml/2006/main">
              <a:ext uri="{FF2B5EF4-FFF2-40B4-BE49-F238E27FC236}">
                <a16:creationId xmlns:a16="http://schemas.microsoft.com/office/drawing/2014/main" id="{CF3BE130-D12E-4478-A562-54884D86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09925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Prise de contact avec des communautés étudiantes et professionnelles. Contenus utiles sur le CV et l’entretien.</a:t>
            </a:r>
          </a:p>
        </p:txBody>
      </p:sp>
      <p:sp>
        <p:nvSpPr>
          <p:cNvPr id="9" name="Text Une boucle courte : tester le parcours, recue">
            <a:extLst xmlns:a="http://schemas.openxmlformats.org/drawingml/2006/main">
              <a:ext uri="{FF2B5EF4-FFF2-40B4-BE49-F238E27FC236}">
                <a16:creationId xmlns:a16="http://schemas.microsoft.com/office/drawing/2014/main" id="{DCB97853-619E-4AB4-8899-A5A41C1B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Une boucle courte : tester le parcours, recueillir les retours, améliorer le produit.</a:t>
            </a:r>
          </a:p>
        </p:txBody>
      </p:sp>
    </p:spTree>
    <p:extLst>
      <p:ext uri="{BB962C8B-B14F-4D97-AF65-F5344CB8AC3E}">
        <p14:creationId xmlns:p14="http://schemas.microsoft.com/office/powerpoint/2010/main" val="21309810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9A72BA04-FB1D-40CC-B20F-E786EB1E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’avancement du projet">
            <a:extLst xmlns:a="http://schemas.openxmlformats.org/drawingml/2006/main">
              <a:ext uri="{FF2B5EF4-FFF2-40B4-BE49-F238E27FC236}">
                <a16:creationId xmlns:a16="http://schemas.microsoft.com/office/drawing/2014/main" id="{35EE1CE0-84A0-4756-B81E-7B080BF1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L’avancement du projet</a:t>
            </a:r>
          </a:p>
        </p:txBody>
      </p:sp>
      <p:sp>
        <p:nvSpPr>
          <p:cNvPr id="3" name="Text 11">
            <a:extLst xmlns:a="http://schemas.openxmlformats.org/drawingml/2006/main">
              <a:ext uri="{FF2B5EF4-FFF2-40B4-BE49-F238E27FC236}">
                <a16:creationId xmlns:a16="http://schemas.microsoft.com/office/drawing/2014/main" id="{283BB161-395C-4273-A3F2-D82A44BC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 MVP démontrable">
            <a:extLst xmlns:a="http://schemas.openxmlformats.org/drawingml/2006/main">
              <a:ext uri="{FF2B5EF4-FFF2-40B4-BE49-F238E27FC236}">
                <a16:creationId xmlns:a16="http://schemas.microsoft.com/office/drawing/2014/main" id="{9F547854-EEA7-4CFB-9137-7403FFD3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566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MVP démontrable</a:t>
            </a:r>
          </a:p>
        </p:txBody>
      </p:sp>
      <p:sp>
        <p:nvSpPr>
          <p:cNvPr id="5" name="Text Les espaces candidat et recruteur sont access">
            <a:extLst xmlns:a="http://schemas.openxmlformats.org/drawingml/2006/main">
              <a:ext uri="{FF2B5EF4-FFF2-40B4-BE49-F238E27FC236}">
                <a16:creationId xmlns:a16="http://schemas.microsoft.com/office/drawing/2014/main" id="{BE5C7AB8-3061-45DD-9C33-A4778BCA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1149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5F6FC"/>
                </a:solidFill>
                <a:latin typeface="Arial"/>
                <a:ea typeface="Arial"/>
                <a:cs typeface="Arial"/>
              </a:rPr>
              <a:t>Les espaces candidat et recruteur sont accessibles dans la démonstration du produit.</a:t>
            </a:r>
          </a:p>
        </p:txBody>
      </p:sp>
      <p:sp>
        <p:nvSpPr>
          <p:cNvPr id="6" name="Text Prochaine étape&#10;Valider l’utilisation réguliè">
            <a:extLst xmlns:a="http://schemas.openxmlformats.org/drawingml/2006/main">
              <a:ext uri="{FF2B5EF4-FFF2-40B4-BE49-F238E27FC236}">
                <a16:creationId xmlns:a16="http://schemas.microsoft.com/office/drawing/2014/main" id="{EB2EB962-113C-4369-8E1C-275073EB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124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Prochaine étape</a:t>
            </a:r>
          </a:p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Valider l’utilisation régulière et le passage à une offre payante.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5FB12-B4A4-4B96-842B-C1E45E2FA5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696a6490d433d"/>
          <a:stretch xmlns:a="http://schemas.openxmlformats.org/drawingml/2006/main"/>
        </p:blipFill>
        <p:spPr>
          <a:xfrm xmlns:a="http://schemas.openxmlformats.org/drawingml/2006/main">
            <a:off x="6191250" y="2241352"/>
            <a:ext cx="5391150" cy="3032522"/>
          </a:xfrm>
          <a:prstGeom xmlns:a="http://schemas.openxmlformats.org/drawingml/2006/main" prst="rect">
            <a:avLst/>
          </a:prstGeom>
        </p:spPr>
      </p:pic>
      <p:sp>
        <p:nvSpPr>
          <p:cNvPr id="8" name="Text Priorités : fiabilité des parcours, retours d">
            <a:extLst xmlns:a="http://schemas.openxmlformats.org/drawingml/2006/main">
              <a:ext uri="{FF2B5EF4-FFF2-40B4-BE49-F238E27FC236}">
                <a16:creationId xmlns:a16="http://schemas.microsoft.com/office/drawing/2014/main" id="{8DAAEA85-CC74-4E4C-8F23-7009D238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Priorités : fiabilité des parcours, retours d’usage et qualité des analyses.</a:t>
            </a:r>
          </a:p>
        </p:txBody>
      </p:sp>
    </p:spTree>
    <p:extLst>
      <p:ext uri="{BB962C8B-B14F-4D97-AF65-F5344CB8AC3E}">
        <p14:creationId xmlns:p14="http://schemas.microsoft.com/office/powerpoint/2010/main" val="9509892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1366B37E-82E4-4EC8-A540-43DE910D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a feuille de route sur trois ans">
            <a:extLst xmlns:a="http://schemas.openxmlformats.org/drawingml/2006/main">
              <a:ext uri="{FF2B5EF4-FFF2-40B4-BE49-F238E27FC236}">
                <a16:creationId xmlns:a16="http://schemas.microsoft.com/office/drawing/2014/main" id="{014FCD92-07EF-426C-8986-69B47DC5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La feuille de route sur trois ans</a:t>
            </a:r>
          </a:p>
        </p:txBody>
      </p:sp>
      <p:sp>
        <p:nvSpPr>
          <p:cNvPr id="3" name="Text Trajectoire envisagée, à ajuster selon les re">
            <a:extLst xmlns:a="http://schemas.openxmlformats.org/drawingml/2006/main">
              <a:ext uri="{FF2B5EF4-FFF2-40B4-BE49-F238E27FC236}">
                <a16:creationId xmlns:a16="http://schemas.microsoft.com/office/drawing/2014/main" id="{B8E5EE98-7F8D-4BE9-9B1D-066BB66C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Trajectoire envisagée, à ajuster selon les retours et les ressources disponibles.</a:t>
            </a:r>
          </a:p>
        </p:txBody>
      </p:sp>
      <p:sp>
        <p:nvSpPr>
          <p:cNvPr id="4" name="Text 12">
            <a:extLst xmlns:a="http://schemas.openxmlformats.org/drawingml/2006/main">
              <a:ext uri="{FF2B5EF4-FFF2-40B4-BE49-F238E27FC236}">
                <a16:creationId xmlns:a16="http://schemas.microsoft.com/office/drawing/2014/main" id="{C29D1E2F-CB03-4608-B0B8-51977D26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xt Année 1">
            <a:extLst xmlns:a="http://schemas.openxmlformats.org/drawingml/2006/main">
              <a:ext uri="{FF2B5EF4-FFF2-40B4-BE49-F238E27FC236}">
                <a16:creationId xmlns:a16="http://schemas.microsoft.com/office/drawing/2014/main" id="{4884F751-7F71-432B-A404-E5321DC6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Année 1</a:t>
            </a:r>
          </a:p>
        </p:txBody>
      </p:sp>
      <p:sp>
        <p:nvSpPr>
          <p:cNvPr id="6" name="Text Valider en Tunisie">
            <a:extLst xmlns:a="http://schemas.openxmlformats.org/drawingml/2006/main">
              <a:ext uri="{FF2B5EF4-FFF2-40B4-BE49-F238E27FC236}">
                <a16:creationId xmlns:a16="http://schemas.microsoft.com/office/drawing/2014/main" id="{222CBBF9-F914-4666-9AE1-92C09B4E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Valider en Tunisie</a:t>
            </a:r>
          </a:p>
        </p:txBody>
      </p:sp>
      <p:sp>
        <p:nvSpPr>
          <p:cNvPr id="7" name="Text Fiabiliser le MVP. Organiser les tests utilis">
            <a:extLst xmlns:a="http://schemas.openxmlformats.org/drawingml/2006/main">
              <a:ext uri="{FF2B5EF4-FFF2-40B4-BE49-F238E27FC236}">
                <a16:creationId xmlns:a16="http://schemas.microsoft.com/office/drawing/2014/main" id="{BD78B143-C5EF-4E05-B115-E17EE0C2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095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Fiabiliser le MVP. Organiser les tests utilisateurs et les premiers essais payants.</a:t>
            </a:r>
          </a:p>
        </p:txBody>
      </p:sp>
      <p:sp>
        <p:nvSpPr>
          <p:cNvPr id="8" name="Text Année 2">
            <a:extLst xmlns:a="http://schemas.openxmlformats.org/drawingml/2006/main">
              <a:ext uri="{FF2B5EF4-FFF2-40B4-BE49-F238E27FC236}">
                <a16:creationId xmlns:a16="http://schemas.microsoft.com/office/drawing/2014/main" id="{F995D0AD-3266-496D-B200-01AE403E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622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Année 2</a:t>
            </a:r>
          </a:p>
        </p:txBody>
      </p:sp>
      <p:sp>
        <p:nvSpPr>
          <p:cNvPr id="9" name="Text Développer l’adoption">
            <a:extLst xmlns:a="http://schemas.openxmlformats.org/drawingml/2006/main">
              <a:ext uri="{FF2B5EF4-FFF2-40B4-BE49-F238E27FC236}">
                <a16:creationId xmlns:a16="http://schemas.microsoft.com/office/drawing/2014/main" id="{2E81887D-BA57-496C-93A5-26CFE1BD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956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Développer l’adoption</a:t>
            </a:r>
          </a:p>
        </p:txBody>
      </p:sp>
      <p:sp>
        <p:nvSpPr>
          <p:cNvPr id="10" name="Text Améliorer la fidélisation et reproduire les c">
            <a:extLst xmlns:a="http://schemas.openxmlformats.org/drawingml/2006/main">
              <a:ext uri="{FF2B5EF4-FFF2-40B4-BE49-F238E27FC236}">
                <a16:creationId xmlns:a16="http://schemas.microsoft.com/office/drawing/2014/main" id="{0A7E3921-E462-4678-8826-43EEEEC9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38625"/>
            <a:ext cx="3095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Améliorer la fidélisation et reproduire les canaux d’acquisition qui fonctionnent.</a:t>
            </a:r>
          </a:p>
        </p:txBody>
      </p:sp>
      <p:sp>
        <p:nvSpPr>
          <p:cNvPr id="11" name="Text Année 3">
            <a:extLst xmlns:a="http://schemas.openxmlformats.org/drawingml/2006/main">
              <a:ext uri="{FF2B5EF4-FFF2-40B4-BE49-F238E27FC236}">
                <a16:creationId xmlns:a16="http://schemas.microsoft.com/office/drawing/2014/main" id="{855AE8CF-3C22-47D6-92CE-3A5D8F1A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Année 3</a:t>
            </a:r>
          </a:p>
        </p:txBody>
      </p:sp>
      <p:sp>
        <p:nvSpPr>
          <p:cNvPr id="12" name="Text Évaluer l’expansion">
            <a:extLst xmlns:a="http://schemas.openxmlformats.org/drawingml/2006/main">
              <a:ext uri="{FF2B5EF4-FFF2-40B4-BE49-F238E27FC236}">
                <a16:creationId xmlns:a16="http://schemas.microsoft.com/office/drawing/2014/main" id="{183CD5EF-3590-4408-BC72-FDFF1709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Évaluer l’expansion</a:t>
            </a:r>
          </a:p>
        </p:txBody>
      </p:sp>
      <p:sp>
        <p:nvSpPr>
          <p:cNvPr id="13" name="Text Tester un autre marché du Maghreb si l’usage ">
            <a:extLst xmlns:a="http://schemas.openxmlformats.org/drawingml/2006/main">
              <a:ext uri="{FF2B5EF4-FFF2-40B4-BE49-F238E27FC236}">
                <a16:creationId xmlns:a16="http://schemas.microsoft.com/office/drawing/2014/main" id="{59FC2A3C-6F78-46D2-BF84-8FFEABDF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8625"/>
            <a:ext cx="3095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Tester un autre marché du Maghreb si l’usage et le modèle économique le justifient.</a:t>
            </a:r>
          </a:p>
        </p:txBody>
      </p:sp>
      <p:sp>
        <p:nvSpPr>
          <p:cNvPr id="14" name="Text Indicateurs : utilisateurs actifs, entreprise">
            <a:extLst xmlns:a="http://schemas.openxmlformats.org/drawingml/2006/main">
              <a:ext uri="{FF2B5EF4-FFF2-40B4-BE49-F238E27FC236}">
                <a16:creationId xmlns:a16="http://schemas.microsoft.com/office/drawing/2014/main" id="{9A2073E9-7132-460F-BE1D-481BB07D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Indicateurs : utilisateurs actifs, entreprises actives, rétention et abonnements payants.</a:t>
            </a:r>
          </a:p>
        </p:txBody>
      </p:sp>
    </p:spTree>
    <p:extLst>
      <p:ext uri="{BB962C8B-B14F-4D97-AF65-F5344CB8AC3E}">
        <p14:creationId xmlns:p14="http://schemas.microsoft.com/office/powerpoint/2010/main" val="18464863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947DEC5A-244B-4493-824D-E6177AF1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e porteur du projet">
            <a:extLst xmlns:a="http://schemas.openxmlformats.org/drawingml/2006/main">
              <a:ext uri="{FF2B5EF4-FFF2-40B4-BE49-F238E27FC236}">
                <a16:creationId xmlns:a16="http://schemas.microsoft.com/office/drawing/2014/main" id="{041B8D89-E27D-4E28-A1EE-EDEB6871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Le porteur du projet</a:t>
            </a:r>
          </a:p>
        </p:txBody>
      </p:sp>
      <p:sp>
        <p:nvSpPr>
          <p:cNvPr id="3" name="Text 13">
            <a:extLst xmlns:a="http://schemas.openxmlformats.org/drawingml/2006/main">
              <a:ext uri="{FF2B5EF4-FFF2-40B4-BE49-F238E27FC236}">
                <a16:creationId xmlns:a16="http://schemas.microsoft.com/office/drawing/2014/main" id="{5C91AAED-D76A-403C-A5A9-28AC780F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 Yassine">
            <a:extLst xmlns:a="http://schemas.openxmlformats.org/drawingml/2006/main">
              <a:ext uri="{FF2B5EF4-FFF2-40B4-BE49-F238E27FC236}">
                <a16:creationId xmlns:a16="http://schemas.microsoft.com/office/drawing/2014/main" id="{90844A6A-0499-4CF8-8199-9305A48B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9825"/>
            <a:ext cx="60960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Yassine</a:t>
            </a:r>
          </a:p>
        </p:txBody>
      </p:sp>
      <p:sp>
        <p:nvSpPr>
          <p:cNvPr id="5" name="Text Porteur d’EasyJob">
            <a:extLst xmlns:a="http://schemas.openxmlformats.org/drawingml/2006/main">
              <a:ext uri="{FF2B5EF4-FFF2-40B4-BE49-F238E27FC236}">
                <a16:creationId xmlns:a16="http://schemas.microsoft.com/office/drawing/2014/main" id="{1D53BA52-C281-4FB8-8BEC-25C929E2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585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Porteur d’EasyJob</a:t>
            </a:r>
          </a:p>
        </p:txBody>
      </p:sp>
      <p:sp>
        <p:nvSpPr>
          <p:cNvPr id="6" name="Text Vision du produit et conduite du projet.">
            <a:extLst xmlns:a="http://schemas.openxmlformats.org/drawingml/2006/main">
              <a:ext uri="{FF2B5EF4-FFF2-40B4-BE49-F238E27FC236}">
                <a16:creationId xmlns:a16="http://schemas.microsoft.com/office/drawing/2014/main" id="{307D2964-FAE2-49DE-B25F-D8488082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5619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Vision du produit et conduite du projet.</a:t>
            </a:r>
          </a:p>
        </p:txBody>
      </p:sp>
      <p:sp>
        <p:nvSpPr>
          <p:cNvPr id="7" name="Text Renforts envisagés&#10;Expertise en recrutement e">
            <a:extLst xmlns:a="http://schemas.openxmlformats.org/drawingml/2006/main">
              <a:ext uri="{FF2B5EF4-FFF2-40B4-BE49-F238E27FC236}">
                <a16:creationId xmlns:a16="http://schemas.microsoft.com/office/drawing/2014/main" id="{50A79F06-7365-4CE4-A86B-B3231532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571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Renforts envisagés</a:t>
            </a:r>
          </a:p>
          <a:p xmlns:a="http://schemas.openxmlformats.org/drawingml/2006/main">
            <a:pPr>
              <a:defRPr sz="19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Expertise en recrutement et développement commercial.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304DC-BFC1-4F54-A6A5-0E35625156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f1f54428947c5"/>
          <a:stretch xmlns:a="http://schemas.openxmlformats.org/drawingml/2006/main"/>
        </p:blipFill>
        <p:spPr>
          <a:xfrm xmlns:a="http://schemas.openxmlformats.org/drawingml/2006/main">
            <a:off x="7743825" y="2143125"/>
            <a:ext cx="3619500" cy="3619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315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7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EasyJob">
            <a:extLst xmlns:a="http://schemas.openxmlformats.org/drawingml/2006/main">
              <a:ext uri="{FF2B5EF4-FFF2-40B4-BE49-F238E27FC236}">
                <a16:creationId xmlns:a16="http://schemas.microsoft.com/office/drawing/2014/main" id="{AF949B78-7102-426D-BAEE-6690B48C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8B4FF"/>
                </a:solidFill>
                <a:latin typeface="Arial"/>
                <a:ea typeface="Arial"/>
                <a:cs typeface="Arial"/>
              </a:rPr>
              <a:t>EasyJob</a:t>
            </a:r>
          </a:p>
        </p:txBody>
      </p:sp>
      <p:sp>
        <p:nvSpPr>
          <p:cNvPr id="2" name="Text Les prochaines étapes">
            <a:extLst xmlns:a="http://schemas.openxmlformats.org/drawingml/2006/main">
              <a:ext uri="{FF2B5EF4-FFF2-40B4-BE49-F238E27FC236}">
                <a16:creationId xmlns:a16="http://schemas.microsoft.com/office/drawing/2014/main" id="{5CD287F1-6F33-4CFC-A6D0-63C08101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1095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Les prochaines étapes</a:t>
            </a:r>
          </a:p>
        </p:txBody>
      </p:sp>
      <p:sp>
        <p:nvSpPr>
          <p:cNvPr id="3" name="Text 14">
            <a:extLst xmlns:a="http://schemas.openxmlformats.org/drawingml/2006/main">
              <a:ext uri="{FF2B5EF4-FFF2-40B4-BE49-F238E27FC236}">
                <a16:creationId xmlns:a16="http://schemas.microsoft.com/office/drawing/2014/main" id="{6F84F597-30B0-46F0-9D6E-F020671F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722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ext Rendre la recherche d’emploi plus claire&#10;et l">
            <a:extLst xmlns:a="http://schemas.openxmlformats.org/drawingml/2006/main">
              <a:ext uri="{FF2B5EF4-FFF2-40B4-BE49-F238E27FC236}">
                <a16:creationId xmlns:a16="http://schemas.microsoft.com/office/drawing/2014/main" id="{385FAA43-BFAE-4347-803A-E6CEC05F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08585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Rendre la recherche d’emploi plus claire</a:t>
            </a:r>
          </a:p>
          <a:p xmlns:a="http://schemas.openxmlformats.org/drawingml/2006/main">
            <a:pPr>
              <a:defRPr sz="3600" b="1">
                <a:solidFill>
                  <a:srgbClr val="F5F6F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5F6FC"/>
                </a:solidFill>
                <a:latin typeface="Arial"/>
                <a:ea typeface="Arial"/>
                <a:cs typeface="Arial"/>
              </a:rPr>
              <a:t>et le recrutement plus simple.</a:t>
            </a:r>
          </a:p>
        </p:txBody>
      </p:sp>
      <p:sp>
        <p:nvSpPr>
          <p:cNvPr id="5" name="Text La candidature au Label Startup accompagne un">
            <a:extLst xmlns:a="http://schemas.openxmlformats.org/drawingml/2006/main">
              <a:ext uri="{FF2B5EF4-FFF2-40B4-BE49-F238E27FC236}">
                <a16:creationId xmlns:a16="http://schemas.microsoft.com/office/drawing/2014/main" id="{8ED683DA-5886-4B9B-8387-EFC496E0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9715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BBC6D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BC6DB"/>
                </a:solidFill>
                <a:latin typeface="Arial"/>
                <a:ea typeface="Arial"/>
                <a:cs typeface="Arial"/>
              </a:rPr>
              <a:t>La candidature au Label Startup accompagne une phase de structuration : consolider le produit et préparer sa validation commerciale.</a:t>
            </a:r>
          </a:p>
        </p:txBody>
      </p:sp>
      <p:sp>
        <p:nvSpPr>
          <p:cNvPr id="6" name="Text Priorités d’accompagnement : expertise RH, ac">
            <a:extLst xmlns:a="http://schemas.openxmlformats.org/drawingml/2006/main">
              <a:ext uri="{FF2B5EF4-FFF2-40B4-BE49-F238E27FC236}">
                <a16:creationId xmlns:a16="http://schemas.microsoft.com/office/drawing/2014/main" id="{BA4B69A2-4E93-438E-B1BC-6D76A881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8B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8B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B4FF"/>
                </a:solidFill>
                <a:latin typeface="Arial"/>
                <a:ea typeface="Arial"/>
                <a:cs typeface="Arial"/>
              </a:rPr>
              <a:t>Priorités d’accompagnement : expertise RH, accès à des entreprises pilotes et développement commercial.</a:t>
            </a:r>
          </a:p>
        </p:txBody>
      </p:sp>
    </p:spTree>
    <p:extLst>
      <p:ext uri="{BB962C8B-B14F-4D97-AF65-F5344CB8AC3E}">
        <p14:creationId xmlns:p14="http://schemas.microsoft.com/office/powerpoint/2010/main" val="1350083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2026-10-11T10:23:56.6240000Z</dcterms:created>
  <dcterms:modified xsi:type="dcterms:W3CDTF">2026-10-11T10:23:56.6240000Z</dcterms:modified>
</coreProperties>
</file>